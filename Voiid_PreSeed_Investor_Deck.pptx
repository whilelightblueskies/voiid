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35e21bd00b42f5" /><Relationship Type="http://schemas.openxmlformats.org/officeDocument/2006/relationships/extended-properties" Target="/docProps/app.xml" Id="R561cd423fe584e18" /><Relationship Type="http://schemas.openxmlformats.org/officeDocument/2006/relationships/officeDocument" Target="/ppt/presentation.xml" Id="R03a7b7d6c83847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d789382fac4629"/>
  </p:sldMasterIdLst>
  <p:notesMasterIdLst>
    <p:notesMasterId xmlns:r="http://schemas.openxmlformats.org/officeDocument/2006/relationships" r:id="R4b7a55f119c24599"/>
  </p:notesMasterIdLst>
  <p:sldIdLst>
    <p:sldId xmlns:r="http://schemas.openxmlformats.org/officeDocument/2006/relationships" id="256" r:id="Re205ae58013845d0"/>
    <p:sldId xmlns:r="http://schemas.openxmlformats.org/officeDocument/2006/relationships" id="257" r:id="R4fa8cbbd9cb24710"/>
    <p:sldId xmlns:r="http://schemas.openxmlformats.org/officeDocument/2006/relationships" id="258" r:id="Rafef7fdee73b4f48"/>
    <p:sldId xmlns:r="http://schemas.openxmlformats.org/officeDocument/2006/relationships" id="259" r:id="Rac6a5c0fcc9c44fc"/>
    <p:sldId xmlns:r="http://schemas.openxmlformats.org/officeDocument/2006/relationships" id="260" r:id="Re3f4ce63aca14559"/>
    <p:sldId xmlns:r="http://schemas.openxmlformats.org/officeDocument/2006/relationships" id="261" r:id="R93f8fa9f310a42e0"/>
    <p:sldId xmlns:r="http://schemas.openxmlformats.org/officeDocument/2006/relationships" id="262" r:id="R2fc035ad1b09459d"/>
    <p:sldId xmlns:r="http://schemas.openxmlformats.org/officeDocument/2006/relationships" id="263" r:id="R5aeb5d7763e84cf0"/>
    <p:sldId xmlns:r="http://schemas.openxmlformats.org/officeDocument/2006/relationships" id="264" r:id="Rdee6377742564dc0"/>
    <p:sldId xmlns:r="http://schemas.openxmlformats.org/officeDocument/2006/relationships" id="265" r:id="Raeb421f47ed841a1"/>
    <p:sldId xmlns:r="http://schemas.openxmlformats.org/officeDocument/2006/relationships" id="266" r:id="Rfa45bc0581c44c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efe337ccbd4b27" /><Relationship Type="http://schemas.openxmlformats.org/officeDocument/2006/relationships/slideMaster" Target="/ppt/slideMasters/slideMaster1.xml" Id="R25d789382fac4629" /><Relationship Type="http://schemas.openxmlformats.org/officeDocument/2006/relationships/notesMaster" Target="/ppt/notesMasters/notesMaster1.xml" Id="R4b7a55f119c24599" /><Relationship Type="http://schemas.openxmlformats.org/officeDocument/2006/relationships/presProps" Target="/ppt/presProps.xml" Id="Rab317f24e4fb4307" /><Relationship Type="http://schemas.openxmlformats.org/officeDocument/2006/relationships/tableStyles" Target="/ppt/tableStyles.xml" Id="R38b88ee04d73483d" /><Relationship Type="http://schemas.openxmlformats.org/officeDocument/2006/relationships/slide" Target="/ppt/slides/slide1.xml" Id="Re205ae58013845d0" /><Relationship Type="http://schemas.openxmlformats.org/officeDocument/2006/relationships/slide" Target="/ppt/slides/slide2.xml" Id="R4fa8cbbd9cb24710" /><Relationship Type="http://schemas.openxmlformats.org/officeDocument/2006/relationships/slide" Target="/ppt/slides/slide3.xml" Id="Rafef7fdee73b4f48" /><Relationship Type="http://schemas.openxmlformats.org/officeDocument/2006/relationships/slide" Target="/ppt/slides/slide4.xml" Id="Rac6a5c0fcc9c44fc" /><Relationship Type="http://schemas.openxmlformats.org/officeDocument/2006/relationships/slide" Target="/ppt/slides/slide5.xml" Id="Re3f4ce63aca14559" /><Relationship Type="http://schemas.openxmlformats.org/officeDocument/2006/relationships/slide" Target="/ppt/slides/slide6.xml" Id="R93f8fa9f310a42e0" /><Relationship Type="http://schemas.openxmlformats.org/officeDocument/2006/relationships/slide" Target="/ppt/slides/slide7.xml" Id="R2fc035ad1b09459d" /><Relationship Type="http://schemas.openxmlformats.org/officeDocument/2006/relationships/slide" Target="/ppt/slides/slide8.xml" Id="R5aeb5d7763e84cf0" /><Relationship Type="http://schemas.openxmlformats.org/officeDocument/2006/relationships/slide" Target="/ppt/slides/slide9.xml" Id="Rdee6377742564dc0" /><Relationship Type="http://schemas.openxmlformats.org/officeDocument/2006/relationships/slide" Target="/ppt/slides/slide10.xml" Id="Raeb421f47ed841a1" /><Relationship Type="http://schemas.openxmlformats.org/officeDocument/2006/relationships/slide" Target="/ppt/slides/slide11.xml" Id="Rfa45bc0581c44c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ea98ac526f49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995dec45764e13" /><Relationship Type="http://schemas.openxmlformats.org/officeDocument/2006/relationships/notesMaster" Target="/ppt/notesMasters/notesMaster1.xml" Id="R91aac695adab47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aa699d81c94194" /><Relationship Type="http://schemas.openxmlformats.org/officeDocument/2006/relationships/notesMaster" Target="/ppt/notesMasters/notesMaster1.xml" Id="R362977a71e3942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2a421def4146f1" /><Relationship Type="http://schemas.openxmlformats.org/officeDocument/2006/relationships/notesMaster" Target="/ppt/notesMasters/notesMaster1.xml" Id="R969ad4aa36be49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919d557b4c487d" /><Relationship Type="http://schemas.openxmlformats.org/officeDocument/2006/relationships/notesMaster" Target="/ppt/notesMasters/notesMaster1.xml" Id="Rc38d9489910542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b0a110c2dc4741" /><Relationship Type="http://schemas.openxmlformats.org/officeDocument/2006/relationships/notesMaster" Target="/ppt/notesMasters/notesMaster1.xml" Id="R11cdc72d153740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3124ac450c483f" /><Relationship Type="http://schemas.openxmlformats.org/officeDocument/2006/relationships/notesMaster" Target="/ppt/notesMasters/notesMaster1.xml" Id="R7ff97910a17649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711407c7f84f31" /><Relationship Type="http://schemas.openxmlformats.org/officeDocument/2006/relationships/notesMaster" Target="/ppt/notesMasters/notesMaster1.xml" Id="Rd2a93da825624c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64c031b8054563" /><Relationship Type="http://schemas.openxmlformats.org/officeDocument/2006/relationships/notesMaster" Target="/ppt/notesMasters/notesMaster1.xml" Id="R2b7b0aa7c49948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6e1609032f4617" /><Relationship Type="http://schemas.openxmlformats.org/officeDocument/2006/relationships/notesMaster" Target="/ppt/notesMasters/notesMaster1.xml" Id="R3cc89097726948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b3094c048e4eae" /><Relationship Type="http://schemas.openxmlformats.org/officeDocument/2006/relationships/notesMaster" Target="/ppt/notesMasters/notesMaster1.xml" Id="R0d8e7e8e4af549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398207bf5340d2" /><Relationship Type="http://schemas.openxmlformats.org/officeDocument/2006/relationships/notesMaster" Target="/ppt/notesMasters/notesMaster1.xml" Id="R3208f0c3ce05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positioning and brand assets: Voiid repository README.md and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framing: founder-provided positioning and product scope in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Feature scope: docs/LANDING_PAGE_BRIEF.md and product assets in apps/ios/Voiid/Voiid/Assets.xcassets.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Architecture claims: README.md Golden rules; privacy boundaries: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sequence: repository feature set and docs/COMMUNITY_COMMERCE_PLAN.md.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No external market-size claim used. Geographic positioning: founder line in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Business-model roadmap: docs/COMMUNITY_COMMERCE_PLAN.md. Paid payment provider is not yet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Stage and traction provided directly by founder: pre-seed, pilot testing, waitlist starting soon.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Roadmap synthesis based on current pilot stage and repository plans; timing is a planning assumption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Founder name and role supplied directly by the user. No unverified biography claims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Round stage provided by founder. Raise amount intentionally left to be finalised.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188a7bcb34f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67da274f940c8" /><Relationship Type="http://schemas.openxmlformats.org/officeDocument/2006/relationships/slideLayout" Target="/ppt/slideLayouts/slideLayout1.xml" Id="R201e24b7e9dd46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1e24b7e9dd46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4f78965c94735" /><Relationship Type="http://schemas.openxmlformats.org/officeDocument/2006/relationships/notesSlide" Target="/ppt/notesSlides/notesSlide1.xml" Id="Rfcd390e819574a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646042550445f" /><Relationship Type="http://schemas.openxmlformats.org/officeDocument/2006/relationships/notesSlide" Target="/ppt/notesSlides/notesSlide2.xml" Id="R064eb4892d3443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a4fae9008407f" /><Relationship Type="http://schemas.openxmlformats.org/officeDocument/2006/relationships/notesSlide" Target="/ppt/notesSlides/notesSlide3.xml" Id="Rc75d749f5adf42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41ac28f52411f" /><Relationship Type="http://schemas.openxmlformats.org/officeDocument/2006/relationships/notesSlide" Target="/ppt/notesSlides/notesSlide4.xml" Id="R20863f5483c146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09f0d663f4c6c" /><Relationship Type="http://schemas.openxmlformats.org/officeDocument/2006/relationships/notesSlide" Target="/ppt/notesSlides/notesSlide5.xml" Id="Rec0a3f6aaacf47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785aa199b4388" /><Relationship Type="http://schemas.openxmlformats.org/officeDocument/2006/relationships/notesSlide" Target="/ppt/notesSlides/notesSlide6.xml" Id="R67b5e01674c344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ac218c9e448b3" /><Relationship Type="http://schemas.openxmlformats.org/officeDocument/2006/relationships/notesSlide" Target="/ppt/notesSlides/notesSlide7.xml" Id="R64e20ed6a9db40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9d723b18c44ef" /><Relationship Type="http://schemas.openxmlformats.org/officeDocument/2006/relationships/notesSlide" Target="/ppt/notesSlides/notesSlide8.xml" Id="R58956a7899aa48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b60b16f2b4bf2" /><Relationship Type="http://schemas.openxmlformats.org/officeDocument/2006/relationships/notesSlide" Target="/ppt/notesSlides/notesSlide9.xml" Id="R88e7256daa1443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f7f9192e64a6d" /><Relationship Type="http://schemas.openxmlformats.org/officeDocument/2006/relationships/notesSlide" Target="/ppt/notesSlides/notesSlide10.xml" Id="R74d41453641a40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d3fd6fdb448f1" /><Relationship Type="http://schemas.openxmlformats.org/officeDocument/2006/relationships/notesSlide" Target="/ppt/notesSlides/notesSlide11.xml" Id="R1b0406f515f946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52876-B386-4C45-80A9-1E614A07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116B1-9C83-4014-86BB-66481D2B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571750" cy="2571750"/>
          </a:xfrm>
          <a:prstGeom xmlns:a="http://schemas.openxmlformats.org/drawingml/2006/main" prst="roundRect">
            <a:avLst>
              <a:gd name="adj" fmla="val 2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751FF-253E-40BB-A908-3299B146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571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2E2440"/>
                </a:solidFill>
              </a:defRPr>
            </a:pPr>
            <a:r>
              <a:rPr sz="8400" b="1">
                <a:solidFill>
                  <a:srgbClr val="2E2440"/>
                </a:solidFill>
              </a:rPr>
              <a:t>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CAE8E-9AFC-4182-B206-C3E30E68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2440"/>
                </a:solidFill>
              </a:defRPr>
            </a:pPr>
            <a:r>
              <a:rPr sz="1350" b="1">
                <a:solidFill>
                  <a:srgbClr val="2E2440"/>
                </a:solidFill>
              </a:rPr>
              <a:t>VOIID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607FC-C972-467B-9738-CE172E40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41D33"/>
                </a:solidFill>
              </a:defRPr>
            </a:pPr>
            <a:r>
              <a:rPr sz="4200" b="1">
                <a:solidFill>
                  <a:srgbClr val="241D33"/>
                </a:solidFill>
              </a:rPr>
              <a:t>Private connection,</a:t>
            </a:r>
          </a:p>
          <a:p xmlns:a="http://schemas.openxmlformats.org/drawingml/2006/main">
            <a:pPr algn="l">
              <a:defRPr sz="4200" b="1">
                <a:solidFill>
                  <a:srgbClr val="241D33"/>
                </a:solidFill>
              </a:defRPr>
            </a:pPr>
            <a:r>
              <a:rPr sz="4200" b="1">
                <a:solidFill>
                  <a:srgbClr val="241D33"/>
                </a:solidFill>
              </a:rPr>
              <a:t>without compromise.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2A944-9CF8-4232-9339-FE8D74A9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5570"/>
                </a:solidFill>
              </a:defRPr>
            </a:pPr>
            <a:r>
              <a:rPr sz="1875" b="0">
                <a:solidFill>
                  <a:srgbClr val="5F5570"/>
                </a:solidFill>
              </a:rPr>
              <a:t>A privacy-first communications super-app built in India for a global generation.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E18E5-5444-4E08-99DF-F508735A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314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041D4-4F3D-4EE0-A8D1-3980C7F3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PRE-SEED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AD58B-E9AE-4244-BD90-A35BD73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53000"/>
            <a:ext cx="1752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6B078-B4E0-4394-BF66-6E216FA6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3872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2440"/>
                </a:solidFill>
              </a:defRPr>
            </a:pPr>
            <a:r>
              <a:rPr sz="1200" b="1">
                <a:solidFill>
                  <a:srgbClr val="2E2440"/>
                </a:solidFill>
              </a:rPr>
              <a:t>PILOT TESTING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1192F-3E5C-4DE2-BEBA-F56A2685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1D33"/>
                </a:solidFill>
              </a:defRPr>
            </a:pPr>
            <a:r>
              <a:rPr sz="1350" b="1">
                <a:solidFill>
                  <a:srgbClr val="241D33"/>
                </a:solidFill>
              </a:rPr>
              <a:t>Sampath Kumar  •  Founder &amp; CEO</a:t>
            </a:r>
          </a:p>
        </p:txBody>
      </p:sp>
    </p:spTree>
    <p:extLst>
      <p:ext uri="{BB962C8B-B14F-4D97-AF65-F5344CB8AC3E}">
        <p14:creationId xmlns:p14="http://schemas.microsoft.com/office/powerpoint/2010/main" val="1837762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1D92C-6072-40FB-8B37-793E4CF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2440"/>
                </a:solidFill>
              </a:defRPr>
            </a:pPr>
            <a:r>
              <a:rPr sz="1050" b="1">
                <a:solidFill>
                  <a:srgbClr val="2E2440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F2AFB-6C8C-4FC4-9AB7-2F3B72B3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1D33"/>
                </a:solidFill>
              </a:defRPr>
            </a:pPr>
            <a:r>
              <a:rPr sz="3000" b="1">
                <a:solidFill>
                  <a:srgbClr val="241D33"/>
                </a:solidFill>
              </a:rPr>
              <a:t>Digital life is fragmented—and trust is the casualty.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340D2-CDB3-4744-9BCF-EC293558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AA835-0CD9-4A75-95BA-FEBEE291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5570"/>
                </a:solidFill>
              </a:defRPr>
            </a:pPr>
            <a:r>
              <a:rPr sz="1875" b="0">
                <a:solidFill>
                  <a:srgbClr val="5F5570"/>
                </a:solidFill>
              </a:rPr>
              <a:t>People switch between apps to message, call, share moments, meet communities and play. Each handoff adds friction; each platform asks for more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CC5B3-B020-4672-9DA2-0F377EE4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7210"/>
                </a:solidFill>
              </a:defRPr>
            </a:pPr>
            <a:r>
              <a:rPr sz="1800" b="1">
                <a:solidFill>
                  <a:srgbClr val="B5721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21071-B372-44E1-9D88-CB81C1D4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2440"/>
                </a:solidFill>
              </a:defRPr>
            </a:pPr>
            <a:r>
              <a:rPr sz="1350" b="1">
                <a:solidFill>
                  <a:srgbClr val="2E2440"/>
                </a:solidFill>
              </a:rPr>
              <a:t>FRAGMENTATION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D64DA-E6AE-465B-9233-43D77BF7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D33"/>
                </a:solidFill>
              </a:defRPr>
            </a:pPr>
            <a:r>
              <a:rPr sz="1650" b="0">
                <a:solidFill>
                  <a:srgbClr val="241D33"/>
                </a:solidFill>
              </a:rPr>
              <a:t>Too many apps for one social life.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5BAEC-5E09-445C-97B5-E40001CC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7210"/>
                </a:solidFill>
              </a:defRPr>
            </a:pPr>
            <a:r>
              <a:rPr sz="1800" b="1">
                <a:solidFill>
                  <a:srgbClr val="B57210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7F122-8685-4B92-A8AA-8AD87024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2440"/>
                </a:solidFill>
              </a:defRPr>
            </a:pPr>
            <a:r>
              <a:rPr sz="1350" b="1">
                <a:solidFill>
                  <a:srgbClr val="2E2440"/>
                </a:solidFill>
              </a:rPr>
              <a:t>SURVEILLANCE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4EFF3-5392-4408-97B7-0B5CC2BA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57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D33"/>
                </a:solidFill>
              </a:defRPr>
            </a:pPr>
            <a:r>
              <a:rPr sz="1650" b="0">
                <a:solidFill>
                  <a:srgbClr val="241D33"/>
                </a:solidFill>
              </a:rPr>
              <a:t>Convenience often trades against privacy.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28B36-1290-4AA7-A8B9-C758A853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7210"/>
                </a:solidFill>
              </a:defRPr>
            </a:pPr>
            <a:r>
              <a:rPr sz="1800" b="1">
                <a:solidFill>
                  <a:srgbClr val="B57210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B1154-11B5-4BAD-BA5D-204CBC9F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72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2440"/>
                </a:solidFill>
              </a:defRPr>
            </a:pPr>
            <a:r>
              <a:rPr sz="1350" b="1">
                <a:solidFill>
                  <a:srgbClr val="2E2440"/>
                </a:solidFill>
              </a:rPr>
              <a:t>WEAK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B0045-BB05-4B80-AFC9-33F3987D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72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D33"/>
                </a:solidFill>
              </a:defRPr>
            </a:pPr>
            <a:r>
              <a:rPr sz="1650" b="0">
                <a:solidFill>
                  <a:srgbClr val="241D33"/>
                </a:solidFill>
              </a:rPr>
              <a:t>Chats, communities and shared experiences live apart.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39CDA-96FB-4F86-8B6A-6A94F8B5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570"/>
                </a:solidFill>
              </a:defRPr>
            </a:pPr>
            <a:r>
              <a:rPr sz="975" b="1">
                <a:solidFill>
                  <a:srgbClr val="5F55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96487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E5AFD-D60A-450F-BAD1-4564F53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2440"/>
                </a:solidFill>
              </a:defRPr>
            </a:pPr>
            <a:r>
              <a:rPr sz="1050" b="1">
                <a:solidFill>
                  <a:srgbClr val="2E2440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AF23E-157F-4692-8053-364F914C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1D33"/>
                </a:solidFill>
              </a:defRPr>
            </a:pPr>
            <a:r>
              <a:rPr sz="3000" b="1">
                <a:solidFill>
                  <a:srgbClr val="241D33"/>
                </a:solidFill>
              </a:rPr>
              <a:t>Voiid brings the social stack into one private home.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14F18-C31D-4751-B9E3-3362ACBF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ADAA5-C688-479B-AEBD-45527F58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5570"/>
                </a:solidFill>
              </a:defRPr>
            </a:pPr>
            <a:r>
              <a:rPr sz="2025" b="0">
                <a:solidFill>
                  <a:srgbClr val="5F5570"/>
                </a:solidFill>
              </a:rPr>
              <a:t>One identity. One trusted graph. Multiple ways to connect.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0D871-1518-484D-AABE-47808AD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400300" cy="28575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09C06-AF18-4169-AB4C-00C79ED2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9525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D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C3C28-89FF-440D-834E-AE8FA12A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2440"/>
                </a:solidFill>
              </a:defRPr>
            </a:pPr>
            <a:r>
              <a:rPr sz="2550" b="1">
                <a:solidFill>
                  <a:srgbClr val="2E2440"/>
                </a:solidFill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28C3E-ECEF-4A81-9570-DBE805D1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2440"/>
                </a:solidFill>
              </a:defRPr>
            </a:pPr>
            <a:r>
              <a:rPr sz="1425" b="1">
                <a:solidFill>
                  <a:srgbClr val="2E2440"/>
                </a:solidFill>
              </a:rPr>
              <a:t>MESSAGING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0C18E-4323-4792-B725-EB48EEB1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570"/>
                </a:solidFill>
              </a:defRPr>
            </a:pPr>
            <a:r>
              <a:rPr sz="1350" b="0">
                <a:solidFill>
                  <a:srgbClr val="5F5570"/>
                </a:solidFill>
              </a:rPr>
              <a:t>Encrypted chats &amp;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71FCC-5C08-44AA-92D1-97D9C789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0350"/>
            <a:ext cx="2400300" cy="28575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C3DEF-5CBC-4BC9-8777-D23ED82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9525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D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BBD06-EA46-4C8D-B729-2075CC13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2440"/>
                </a:solidFill>
              </a:defRPr>
            </a:pPr>
            <a:r>
              <a:rPr sz="2550" b="1">
                <a:solidFill>
                  <a:srgbClr val="2E2440"/>
                </a:solidFill>
              </a:rPr>
              <a:t>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1DE6C-9C4C-4F40-AF09-62A72285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2440"/>
                </a:solidFill>
              </a:defRPr>
            </a:pPr>
            <a:r>
              <a:rPr sz="1425" b="1">
                <a:solidFill>
                  <a:srgbClr val="2E2440"/>
                </a:solidFill>
              </a:rPr>
              <a:t>MOMENTS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DE8F3-336E-46D8-8F41-D4775C40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570"/>
                </a:solidFill>
              </a:defRPr>
            </a:pPr>
            <a:r>
              <a:rPr sz="1350" b="0">
                <a:solidFill>
                  <a:srgbClr val="5F5570"/>
                </a:solidFill>
              </a:rPr>
              <a:t>Share with the people who matter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E49C5-1EB6-4A8A-A245-3958D428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400300" cy="28575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C1169-14C5-4CC9-B165-2F220ED7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9525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B9D5B-F5B1-4F21-84C8-3D28F514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2440"/>
                </a:solidFill>
              </a:defRPr>
            </a:pPr>
            <a:r>
              <a:rPr sz="2550" b="1">
                <a:solidFill>
                  <a:srgbClr val="2E2440"/>
                </a:solidFill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C10C1-5A67-4DBA-9483-3710C3DF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2440"/>
                </a:solidFill>
              </a:defRPr>
            </a:pPr>
            <a:r>
              <a:rPr sz="1425" b="1">
                <a:solidFill>
                  <a:srgbClr val="2E2440"/>
                </a:solidFill>
              </a:rPr>
              <a:t>CLIPS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F06D4-CAC9-4599-A432-063A102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570"/>
                </a:solidFill>
              </a:defRPr>
            </a:pPr>
            <a:r>
              <a:rPr sz="1350" b="0">
                <a:solidFill>
                  <a:srgbClr val="5F5570"/>
                </a:solidFill>
              </a:rPr>
              <a:t>Discover creators and culture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56D27-BFBD-4681-9844-27D00DBC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2400300" cy="28575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4F2BE-367E-46C5-BD51-9BECBB4F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9525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F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11564-957F-4217-AAD7-508C5C55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2440"/>
                </a:solidFill>
              </a:defRPr>
            </a:pPr>
            <a:r>
              <a:rPr sz="2550" b="1">
                <a:solidFill>
                  <a:srgbClr val="2E2440"/>
                </a:solidFill>
              </a:rPr>
              <a:t>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C6702-D0EF-4D2A-8F8E-CFD9BDB7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2440"/>
                </a:solidFill>
              </a:defRPr>
            </a:pPr>
            <a:r>
              <a:rPr sz="1425" b="1">
                <a:solidFill>
                  <a:srgbClr val="2E2440"/>
                </a:solidFill>
              </a:rPr>
              <a:t>GAMES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10BED-3AF9-4D82-92FB-3AFA25E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570"/>
                </a:solidFill>
              </a:defRPr>
            </a:pPr>
            <a:r>
              <a:rPr sz="1350" b="0">
                <a:solidFill>
                  <a:srgbClr val="5F5570"/>
                </a:solidFill>
              </a:rPr>
              <a:t>Play inside the conversation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CA457-72D9-46FE-883A-D0FC43DD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570"/>
                </a:solidFill>
              </a:defRPr>
            </a:pPr>
            <a:r>
              <a:rPr sz="975" b="1">
                <a:solidFill>
                  <a:srgbClr val="5F55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9014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EC0F3-1FB2-4209-BEDF-1D9DB3CA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2440"/>
                </a:solidFill>
              </a:defRPr>
            </a:pPr>
            <a:r>
              <a:rPr sz="1050" b="1">
                <a:solidFill>
                  <a:srgbClr val="2E2440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D6989-BC9E-4C34-8895-6BF51539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1D33"/>
                </a:solidFill>
              </a:defRPr>
            </a:pPr>
            <a:r>
              <a:rPr sz="3000" b="1">
                <a:solidFill>
                  <a:srgbClr val="241D33"/>
                </a:solidFill>
              </a:rPr>
              <a:t>Privacy is the architecture—not a setting.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E8147-339A-4B78-8700-83E25FD9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7BDFC-82EA-4E86-B559-5FB704C4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667250" cy="3676650"/>
          </a:xfrm>
          <a:prstGeom xmlns:a="http://schemas.openxmlformats.org/drawingml/2006/main" prst="roundRect">
            <a:avLst>
              <a:gd name="adj" fmla="val 7254"/>
            </a:avLst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6D6B9-816C-4B9A-BF6A-C6FD17E2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905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SERVER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NEVER SEES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PLAINTEXT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8FFF1-98B6-4C3D-9FD2-0FCAF3B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D2EF"/>
                </a:solidFill>
              </a:defRPr>
            </a:pPr>
            <a:r>
              <a:rPr sz="1500" b="0">
                <a:solidFill>
                  <a:srgbClr val="DDD2EF"/>
                </a:solidFill>
              </a:rPr>
              <a:t>Private keys stay on-device. Critical dependencies remain swappable.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B28E1-EF3B-4411-B3DA-143FD14E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1D33"/>
                </a:solidFill>
              </a:defRPr>
            </a:pPr>
            <a:r>
              <a:rPr sz="1800" b="1">
                <a:solidFill>
                  <a:srgbClr val="241D33"/>
                </a:solidFill>
              </a:rPr>
              <a:t>End-to-end encrypted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16A72-D540-47FA-ADEE-551C3F3E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146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570"/>
                </a:solidFill>
              </a:defRPr>
            </a:pPr>
            <a:r>
              <a:rPr sz="1350" b="0">
                <a:solidFill>
                  <a:srgbClr val="5F5570"/>
                </a:solidFill>
              </a:rPr>
              <a:t>Messages and sensitive connection data are designed around ciphertext-only infrastructure.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75C49-9337-479F-9ACD-A0EB7826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1D33"/>
                </a:solidFill>
              </a:defRPr>
            </a:pPr>
            <a:r>
              <a:rPr sz="1800" b="1">
                <a:solidFill>
                  <a:srgbClr val="241D33"/>
                </a:solidFill>
              </a:rPr>
              <a:t>Honest privacy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C4B34-A1D6-4087-B32F-605AB27E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570"/>
                </a:solidFill>
              </a:defRPr>
            </a:pPr>
            <a:r>
              <a:rPr sz="1350" b="0">
                <a:solidFill>
                  <a:srgbClr val="5F5570"/>
                </a:solidFill>
              </a:rPr>
              <a:t>Public clips, creator profiles and games are identified as public—not hidden behind vague claims.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69C34-2681-4BB7-BE63-15A62D8B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1D33"/>
                </a:solidFill>
              </a:defRPr>
            </a:pPr>
            <a:r>
              <a:rPr sz="1800" b="1">
                <a:solidFill>
                  <a:srgbClr val="241D33"/>
                </a:solidFill>
              </a:rPr>
              <a:t>Built for resilience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84535-30BC-4677-9911-5911101F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570"/>
                </a:solidFill>
              </a:defRPr>
            </a:pPr>
            <a:r>
              <a:rPr sz="1350" b="0">
                <a:solidFill>
                  <a:srgbClr val="5F5570"/>
                </a:solidFill>
              </a:rPr>
              <a:t>Plain Postgres and replaceable interfaces reduce platform lock-in.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9C49B-7712-451E-A23D-CBBD1B3E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570"/>
                </a:solidFill>
              </a:defRPr>
            </a:pPr>
            <a:r>
              <a:rPr sz="975" b="1">
                <a:solidFill>
                  <a:srgbClr val="5F55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5508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66C56-197C-4EF4-B42F-4C9C3205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2440"/>
                </a:solidFill>
              </a:defRPr>
            </a:pPr>
            <a:r>
              <a:rPr sz="1050" b="1">
                <a:solidFill>
                  <a:srgbClr val="2E2440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7629F-FE7A-4969-A457-607440C2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1D33"/>
                </a:solidFill>
              </a:defRPr>
            </a:pPr>
            <a:r>
              <a:rPr sz="3000" b="1">
                <a:solidFill>
                  <a:srgbClr val="241D33"/>
                </a:solidFill>
              </a:rPr>
              <a:t>Start with trusted communication. Expand with shared experiences.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78AB9-1340-48BC-9595-9AB4E9F8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83ACA-481A-4E70-BA8E-0C45B712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49F32-971F-41F8-BF0B-4E9AC224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2440"/>
                </a:solidFill>
              </a:defRPr>
            </a:pPr>
            <a:r>
              <a:rPr sz="1800" b="1">
                <a:solidFill>
                  <a:srgbClr val="2E244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6ED8B-2CBF-4FBA-BF22-528E62C6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D33"/>
                </a:solidFill>
              </a:defRPr>
            </a:pPr>
            <a:r>
              <a:rPr sz="1500" b="1">
                <a:solidFill>
                  <a:srgbClr val="241D33"/>
                </a:solidFill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DEB57-5D65-4D99-A470-21547FA0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570"/>
                </a:solidFill>
              </a:defRPr>
            </a:pPr>
            <a:r>
              <a:rPr sz="1500" b="0">
                <a:solidFill>
                  <a:srgbClr val="5F5570"/>
                </a:solidFill>
              </a:rPr>
              <a:t>Encrypted messaging &amp;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92758-C699-4244-8460-9D107CA7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B4AD9-18CA-46C0-B989-D890379E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338F4-C63C-4E23-B6BC-982F3D8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B5A91"/>
                </a:solidFill>
              </a:defRPr>
            </a:pPr>
            <a:r>
              <a:rPr sz="1800" b="1">
                <a:solidFill>
                  <a:srgbClr val="9B5A9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184B6-3204-40E9-920F-04C4FAF3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D33"/>
                </a:solidFill>
              </a:defRPr>
            </a:pPr>
            <a:r>
              <a:rPr sz="1500" b="1">
                <a:solidFill>
                  <a:srgbClr val="241D33"/>
                </a:solidFill>
              </a:rPr>
              <a:t>ENGAGE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D6F3A-9FD6-4837-805C-4FED9387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570"/>
                </a:solidFill>
              </a:defRPr>
            </a:pPr>
            <a:r>
              <a:rPr sz="1500" b="0">
                <a:solidFill>
                  <a:srgbClr val="5F5570"/>
                </a:solidFill>
              </a:rPr>
              <a:t>Moments, clips &amp; games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252E0-D4C5-47A6-8EBC-74055135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5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9DF5C-97C9-43C1-A171-5A4A5270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58CB4-1627-479C-9083-1201F16A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C79A8"/>
                </a:solidFill>
              </a:defRPr>
            </a:pPr>
            <a:r>
              <a:rPr sz="1800" b="1">
                <a:solidFill>
                  <a:srgbClr val="4C79A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6BCF1-81DB-408E-9D31-BD5B3644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D33"/>
                </a:solidFill>
              </a:defRPr>
            </a:pPr>
            <a:r>
              <a:rPr sz="1500" b="1">
                <a:solidFill>
                  <a:srgbClr val="241D33"/>
                </a:solidFill>
              </a:rPr>
              <a:t>BELONG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A32DF-5F39-4E75-821F-09E00386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570"/>
                </a:solidFill>
              </a:defRPr>
            </a:pPr>
            <a:r>
              <a:rPr sz="1500" b="0">
                <a:solidFill>
                  <a:srgbClr val="5F5570"/>
                </a:solidFill>
              </a:rPr>
              <a:t>Communities &amp; events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7BC75-7B3F-4981-88D6-96CF1285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79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C6F02-04AB-4124-9963-5599F5A7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336DC-648E-44A2-B0C9-77633D2E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7210"/>
                </a:solidFill>
              </a:defRPr>
            </a:pPr>
            <a:r>
              <a:rPr sz="1800" b="1">
                <a:solidFill>
                  <a:srgbClr val="B57210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75D70-7014-4D18-9A0B-28561FE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D33"/>
                </a:solidFill>
              </a:defRPr>
            </a:pPr>
            <a:r>
              <a:rPr sz="1500" b="1">
                <a:solidFill>
                  <a:srgbClr val="241D33"/>
                </a:solidFill>
              </a:rPr>
              <a:t>MONETISE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DB201-23CD-4345-9B3E-EF49BC5E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570"/>
                </a:solidFill>
              </a:defRPr>
            </a:pPr>
            <a:r>
              <a:rPr sz="1500" b="0">
                <a:solidFill>
                  <a:srgbClr val="5F5570"/>
                </a:solidFill>
              </a:rPr>
              <a:t>Tickets and creator commerce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A1F52B-16BB-44CA-BF88-89078364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72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60F442-FF90-4427-97BB-DDA473BA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2440"/>
                </a:solidFill>
              </a:defRPr>
            </a:pPr>
            <a:r>
              <a:rPr sz="1725" b="1">
                <a:solidFill>
                  <a:srgbClr val="2E2440"/>
                </a:solidFill>
              </a:rPr>
              <a:t>The same trusted identity compounds across every surface.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461C3E-3A05-4F87-91D6-500001FA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570"/>
                </a:solidFill>
              </a:defRPr>
            </a:pPr>
            <a:r>
              <a:rPr sz="975" b="1">
                <a:solidFill>
                  <a:srgbClr val="5F55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2202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B2209-1814-4534-8A6C-2737E713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2440"/>
                </a:solidFill>
              </a:defRPr>
            </a:pPr>
            <a:r>
              <a:rPr sz="1050" b="1">
                <a:solidFill>
                  <a:srgbClr val="2E2440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930DD-2F1D-4BB7-BD34-7F4DC99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1D33"/>
                </a:solidFill>
              </a:defRPr>
            </a:pPr>
            <a:r>
              <a:rPr sz="3000" b="1">
                <a:solidFill>
                  <a:srgbClr val="241D33"/>
                </a:solidFill>
              </a:rPr>
              <a:t>India is the launchpad; the need is global.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8BB0E-9351-4FF6-808D-223616FA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A788B-5BA9-4405-8F96-C7EC87C9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28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5570"/>
                </a:solidFill>
              </a:defRPr>
            </a:pPr>
            <a:r>
              <a:rPr sz="1875" b="0">
                <a:solidFill>
                  <a:srgbClr val="5F5570"/>
                </a:solidFill>
              </a:rPr>
              <a:t>Voiid targets a universal tension: people want richer digital connection without surrendering control of their private lives.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E4DB4-728C-4DC0-A5CA-4E925F34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295650" cy="2038350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2CC86-631B-4A0C-BBA6-BF9B1026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2440"/>
                </a:solidFill>
              </a:defRPr>
            </a:pPr>
            <a:r>
              <a:rPr sz="1350" b="1">
                <a:solidFill>
                  <a:srgbClr val="2E2440"/>
                </a:solidFill>
              </a:rPr>
              <a:t>MOBILE-FIRST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BC728-1432-4A0A-A176-42FCA714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D33"/>
                </a:solidFill>
              </a:defRPr>
            </a:pPr>
            <a:r>
              <a:rPr sz="1650" b="1">
                <a:solidFill>
                  <a:srgbClr val="241D33"/>
                </a:solidFill>
              </a:rPr>
              <a:t>Designed around the phone as the primary social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30E0B-0C57-451C-A85B-6C98529B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3295650" cy="2038350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2E2440"/>
          </a:solidFill>
          <a:ln xmlns:a="http://schemas.openxmlformats.org/drawingml/2006/main" w="9525">
            <a:solidFill>
              <a:srgbClr val="2E24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3C6DE-DE0F-4E72-9863-D042C95E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D2EF"/>
                </a:solidFill>
              </a:defRPr>
            </a:pPr>
            <a:r>
              <a:rPr sz="1350" b="1">
                <a:solidFill>
                  <a:srgbClr val="DDD2EF"/>
                </a:solidFill>
              </a:rPr>
              <a:t>INDIA-BUILT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FBACD-8C09-418F-B16C-999C68A8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product intuition with global product ambition.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28885-627D-4410-B171-6092B2CF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52800"/>
            <a:ext cx="3295650" cy="2038350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407D7-283A-4E6B-8760-4990515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2440"/>
                </a:solidFill>
              </a:defRPr>
            </a:pPr>
            <a:r>
              <a:rPr sz="1350" b="1">
                <a:solidFill>
                  <a:srgbClr val="2E2440"/>
                </a:solidFill>
              </a:rPr>
              <a:t>GENERATIONAL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DFA10-21B1-4626-B2E2-52E3E3C7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D33"/>
                </a:solidFill>
              </a:defRPr>
            </a:pPr>
            <a:r>
              <a:rPr sz="1650" b="1">
                <a:solidFill>
                  <a:srgbClr val="241D33"/>
                </a:solidFill>
              </a:rPr>
              <a:t>Privacy expectations are rising as social behaviour keeps expanding.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F3095-5284-487E-ABC9-48A79BE4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570"/>
                </a:solidFill>
              </a:defRPr>
            </a:pPr>
            <a:r>
              <a:rPr sz="975" b="1">
                <a:solidFill>
                  <a:srgbClr val="5F55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1278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99694-FC69-437A-947A-CAC7775B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2440"/>
                </a:solidFill>
              </a:defRPr>
            </a:pPr>
            <a:r>
              <a:rPr sz="1050" b="1">
                <a:solidFill>
                  <a:srgbClr val="2E2440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3B5AB-1D4A-4FB4-867E-8818A2BA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1D33"/>
                </a:solidFill>
              </a:defRPr>
            </a:pPr>
            <a:r>
              <a:rPr sz="3000" b="1">
                <a:solidFill>
                  <a:srgbClr val="241D33"/>
                </a:solidFill>
              </a:rPr>
              <a:t>Monetisation grows with community activity.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9D070-F4A5-4CC8-B41E-960971EE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4346E-1767-425F-95AC-876602A3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5570"/>
                </a:solidFill>
              </a:defRPr>
            </a:pPr>
            <a:r>
              <a:rPr sz="1875" b="0">
                <a:solidFill>
                  <a:srgbClr val="5F5570"/>
                </a:solidFill>
              </a:rPr>
              <a:t>Voiid can earn when hosts and creators earn—without putting core private communication behind a paywall.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17F8E-99FD-49E8-82D2-AB106BB4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E0BAB-4DAB-440D-A79B-BE318B76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2440"/>
                </a:solidFill>
              </a:defRPr>
            </a:pPr>
            <a:r>
              <a:rPr sz="1350" b="1">
                <a:solidFill>
                  <a:srgbClr val="2E2440"/>
                </a:solidFill>
              </a:rPr>
              <a:t>PAID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4BB5E-1B05-4A0A-9DE2-BC0235C6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1D33"/>
                </a:solidFill>
              </a:defRPr>
            </a:pPr>
            <a:r>
              <a:rPr sz="1575" b="0">
                <a:solidFill>
                  <a:srgbClr val="241D33"/>
                </a:solidFill>
              </a:rPr>
              <a:t>Commission on tickets and passes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CD6F4-5F58-4554-A927-38B6703C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57210"/>
                </a:solidFill>
              </a:defRPr>
            </a:pPr>
            <a:r>
              <a:rPr sz="1275" b="1">
                <a:solidFill>
                  <a:srgbClr val="B57210"/>
                </a:solidFill>
              </a:rPr>
              <a:t>Near-term wedge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E72B5-C94A-4FD4-B90B-71B20B9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BD124-EC91-4F9B-9382-5C2F15C0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2440"/>
                </a:solidFill>
              </a:defRPr>
            </a:pPr>
            <a:r>
              <a:rPr sz="1350" b="1">
                <a:solidFill>
                  <a:srgbClr val="2E2440"/>
                </a:solidFill>
              </a:rPr>
              <a:t>COMMUNITY COMMERCE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B9216-AF8F-43FF-B66D-62965E59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576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1D33"/>
                </a:solidFill>
              </a:defRPr>
            </a:pPr>
            <a:r>
              <a:rPr sz="1575" b="0">
                <a:solidFill>
                  <a:srgbClr val="241D33"/>
                </a:solidFill>
              </a:rPr>
              <a:t>Transaction fee on products and experiences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B5BF5-ED57-4B10-B485-4E0A6784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862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F5570"/>
                </a:solidFill>
              </a:defRPr>
            </a:pPr>
            <a:r>
              <a:rPr sz="1275" b="1">
                <a:solidFill>
                  <a:srgbClr val="5F5570"/>
                </a:solidFill>
              </a:rPr>
              <a:t>Expansion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5D1FB-07EE-4503-A93A-3C88AF12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7F5F9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5FBFF-C1C3-47E4-811D-074C8625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2440"/>
                </a:solidFill>
              </a:defRPr>
            </a:pPr>
            <a:r>
              <a:rPr sz="1350" b="1">
                <a:solidFill>
                  <a:srgbClr val="2E2440"/>
                </a:solidFill>
              </a:rPr>
              <a:t>CREATOR ECONOMY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31AA0-008C-4AED-9A44-5616E53F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339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1D33"/>
                </a:solidFill>
              </a:defRPr>
            </a:pPr>
            <a:r>
              <a:rPr sz="1575" b="0">
                <a:solidFill>
                  <a:srgbClr val="241D33"/>
                </a:solidFill>
              </a:rPr>
              <a:t>Tips, subscriptions and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41692-5EA5-4BD2-BC2C-473F2198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F5570"/>
                </a:solidFill>
              </a:defRPr>
            </a:pPr>
            <a:r>
              <a:rPr sz="1275" b="1">
                <a:solidFill>
                  <a:srgbClr val="5F5570"/>
                </a:solidFill>
              </a:rPr>
              <a:t>Longer-term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FBE59-7856-4626-83D0-8C4721E0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570"/>
                </a:solidFill>
              </a:defRPr>
            </a:pPr>
            <a:r>
              <a:rPr sz="975" b="1">
                <a:solidFill>
                  <a:srgbClr val="5F55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2101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0732F-6868-4C56-BB54-1A9354C9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2440"/>
                </a:solidFill>
              </a:defRPr>
            </a:pPr>
            <a:r>
              <a:rPr sz="1050" b="1">
                <a:solidFill>
                  <a:srgbClr val="2E2440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BCB09-FF42-4E55-B85C-5A0CC2A0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1D33"/>
                </a:solidFill>
              </a:defRPr>
            </a:pPr>
            <a:r>
              <a:rPr sz="3000" b="1">
                <a:solidFill>
                  <a:srgbClr val="241D33"/>
                </a:solidFill>
              </a:rPr>
              <a:t>The product is in pilot; the learning loop is active.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748D1-B6AF-48B8-B22A-828F9CA7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82BD4-E059-45D1-A587-8437194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956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2E2440"/>
          </a:solidFill>
          <a:ln xmlns:a="http://schemas.openxmlformats.org/drawingml/2006/main" w="9525">
            <a:solidFill>
              <a:srgbClr val="2E24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B75EB-1B72-4B22-866E-0E6EB3AA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D2EF"/>
                </a:solidFill>
              </a:defRPr>
            </a:pPr>
            <a:r>
              <a:rPr sz="1200" b="1">
                <a:solidFill>
                  <a:srgbClr val="DDD2EF"/>
                </a:solidFill>
              </a:rPr>
              <a:t>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431E0-F5F4-4FC2-9556-24C19FFF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Pilot 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043D4-1A47-46A2-8140-D183F3B5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D2EF"/>
                </a:solidFill>
              </a:defRPr>
            </a:pPr>
            <a:r>
              <a:rPr sz="1425" b="0">
                <a:solidFill>
                  <a:srgbClr val="DDD2EF"/>
                </a:solidFill>
              </a:rPr>
              <a:t>Validate reliability, privacy flows and core engagement.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0DBDC-55AD-4B29-A35B-C179D031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2956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9F690-2CD6-4713-80AA-125D9688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7210"/>
                </a:solidFill>
              </a:defRPr>
            </a:pPr>
            <a:r>
              <a:rPr sz="1200" b="1">
                <a:solidFill>
                  <a:srgbClr val="B57210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BB246-F078-4567-B883-17D840DB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1D33"/>
                </a:solidFill>
              </a:defRPr>
            </a:pPr>
            <a:r>
              <a:rPr sz="2025" b="1">
                <a:solidFill>
                  <a:srgbClr val="241D33"/>
                </a:solidFill>
              </a:rPr>
              <a:t>Waitlist launch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88FA7-E2B3-4A50-A01E-1CE7BF6D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570"/>
                </a:solidFill>
              </a:defRPr>
            </a:pPr>
            <a:r>
              <a:rPr sz="1425" b="0">
                <a:solidFill>
                  <a:srgbClr val="5F5570"/>
                </a:solidFill>
              </a:rPr>
              <a:t>Build an owned audience and measure intent by cohort.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D46F9-F1FA-4F92-8AF9-168D8B8E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2956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8C123-12E9-407D-A281-A6E40F30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7210"/>
                </a:solidFill>
              </a:defRPr>
            </a:pPr>
            <a:r>
              <a:rPr sz="1200" b="1">
                <a:solidFill>
                  <a:srgbClr val="B57210"/>
                </a:solidFill>
              </a:rPr>
              <a:t>THEN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35330-2621-4411-9F16-5AD96D7F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1D33"/>
                </a:solidFill>
              </a:defRPr>
            </a:pPr>
            <a:r>
              <a:rPr sz="2025" b="1">
                <a:solidFill>
                  <a:srgbClr val="241D33"/>
                </a:solidFill>
              </a:rPr>
              <a:t>Focused rollout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AA7D8-5B2D-4542-9CD1-1BF2421B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570"/>
                </a:solidFill>
              </a:defRPr>
            </a:pPr>
            <a:r>
              <a:rPr sz="1425" b="0">
                <a:solidFill>
                  <a:srgbClr val="5F5570"/>
                </a:solidFill>
              </a:rPr>
              <a:t>Convert early communities into repeat usage and referrals.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D5667-AD31-4A83-9279-2AAFE239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2440"/>
                </a:solidFill>
              </a:defRPr>
            </a:pPr>
            <a:r>
              <a:rPr sz="1725" b="1">
                <a:solidFill>
                  <a:srgbClr val="2E2440"/>
                </a:solidFill>
              </a:rPr>
              <a:t>Next investor update: waitlist conversion, activation, retention and referral.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93FFE-BADD-4BF3-8558-DD1FCA0A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570"/>
                </a:solidFill>
              </a:defRPr>
            </a:pPr>
            <a:r>
              <a:rPr sz="975" b="1">
                <a:solidFill>
                  <a:srgbClr val="5F55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5422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ADAF3-6A1F-42EC-9DFC-32975752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2440"/>
                </a:solidFill>
              </a:defRPr>
            </a:pPr>
            <a:r>
              <a:rPr sz="1050" b="1">
                <a:solidFill>
                  <a:srgbClr val="2E2440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6705E-60F0-4015-B0AF-CDCAD88E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1D33"/>
                </a:solidFill>
              </a:defRPr>
            </a:pPr>
            <a:r>
              <a:rPr sz="3000" b="1">
                <a:solidFill>
                  <a:srgbClr val="241D33"/>
                </a:solidFill>
              </a:rPr>
              <a:t>The next 18 months turn product breadth into repeatable growth.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E8E28-CC0D-4E02-8DC6-053C8408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C668A-940A-4BC5-879D-6EABFC1D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2440"/>
                </a:solidFill>
              </a:defRPr>
            </a:pPr>
            <a:r>
              <a:rPr sz="1350" b="1">
                <a:solidFill>
                  <a:srgbClr val="2E2440"/>
                </a:solidFill>
              </a:rPr>
              <a:t>0–3 MONTHS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2BBBD-177A-4CA9-A14A-84B5C44D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8458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421C4-41E1-4C5A-B1D8-E0ADC77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784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1D33"/>
                </a:solidFill>
              </a:defRPr>
            </a:pPr>
            <a:r>
              <a:rPr sz="1575" b="0">
                <a:solidFill>
                  <a:srgbClr val="241D33"/>
                </a:solidFill>
              </a:rPr>
              <a:t>Complete pilot hardening • open waitlist • instrument activation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535B3-275C-4B23-AC7B-E7D8FA2B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5A91"/>
                </a:solidFill>
              </a:defRPr>
            </a:pPr>
            <a:r>
              <a:rPr sz="1350" b="1">
                <a:solidFill>
                  <a:srgbClr val="9B5A91"/>
                </a:solidFill>
              </a:rPr>
              <a:t>3–9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FFD62-5AF8-45B6-88C6-DDD547C0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24225"/>
            <a:ext cx="8458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FA976-77B4-48C0-9E4C-7480361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33775"/>
            <a:ext cx="784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1D33"/>
                </a:solidFill>
              </a:defRPr>
            </a:pPr>
            <a:r>
              <a:rPr sz="1575" b="0">
                <a:solidFill>
                  <a:srgbClr val="241D33"/>
                </a:solidFill>
              </a:rPr>
              <a:t>Launch focused cohorts • strengthen calls, clips and games • prove retention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2DEA9-0414-456D-8BC3-ED8B8A50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7210"/>
                </a:solidFill>
              </a:defRPr>
            </a:pPr>
            <a:r>
              <a:rPr sz="1350" b="1">
                <a:solidFill>
                  <a:srgbClr val="B57210"/>
                </a:solidFill>
              </a:rPr>
              <a:t>9–18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87645-8FE1-43FD-92A9-83032998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05325"/>
            <a:ext cx="8458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93A93-B2C9-4567-B633-27E85E25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14875"/>
            <a:ext cx="784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1D33"/>
                </a:solidFill>
              </a:defRPr>
            </a:pPr>
            <a:r>
              <a:rPr sz="1575" b="0">
                <a:solidFill>
                  <a:srgbClr val="241D33"/>
                </a:solidFill>
              </a:rPr>
              <a:t>Scale communities • activate paid events • prepare creator monetisation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974C0-E150-4B9B-86C4-4A8878DB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E95DF-0344-492D-82B0-7FED78D4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1502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NORTH STAR: WEEKLY TRUSTED CONNECTIONS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43D14-9EDA-41C2-847D-933A94B7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570"/>
                </a:solidFill>
              </a:defRPr>
            </a:pPr>
            <a:r>
              <a:rPr sz="975" b="1">
                <a:solidFill>
                  <a:srgbClr val="5F55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128082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1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CAA13-EAF7-45F1-9DEB-5F8D5A8C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2440"/>
                </a:solidFill>
              </a:defRPr>
            </a:pPr>
            <a:r>
              <a:rPr sz="1050" b="1">
                <a:solidFill>
                  <a:srgbClr val="2E2440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B7602-2F42-44AF-9F46-03A954EE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1D33"/>
                </a:solidFill>
              </a:defRPr>
            </a:pPr>
            <a:r>
              <a:rPr sz="3000" b="1">
                <a:solidFill>
                  <a:srgbClr val="241D33"/>
                </a:solidFill>
              </a:rPr>
              <a:t>Founder-led, product-first execution.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6A621-5210-4306-9A5B-839093EB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D8CEC-86EC-4858-A981-2A0C7A8B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1907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2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8CE83-26A5-48AB-8318-22076286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0A8F9-C220-44D9-8B74-679AD686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1D33"/>
                </a:solidFill>
              </a:defRPr>
            </a:pPr>
            <a:r>
              <a:rPr sz="2550" b="1">
                <a:solidFill>
                  <a:srgbClr val="241D33"/>
                </a:solidFill>
              </a:rPr>
              <a:t>Sampath Kumar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AC014-EA7C-4082-8FA3-0C3725C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194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2440"/>
                </a:solidFill>
              </a:defRPr>
            </a:pPr>
            <a:r>
              <a:rPr sz="1725" b="1">
                <a:solidFill>
                  <a:srgbClr val="2E2440"/>
                </a:solidFill>
              </a:rPr>
              <a:t>Founder &amp; CEO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6AA51-F630-4576-8767-F0C9BA94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695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5570"/>
                </a:solidFill>
              </a:defRPr>
            </a:pPr>
            <a:r>
              <a:rPr sz="1800" b="0">
                <a:solidFill>
                  <a:srgbClr val="5F5570"/>
                </a:solidFill>
              </a:rPr>
              <a:t>Leading Voiid from product vision through pilot execution—with a clear ambition to build in India for the world.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34C89-507C-459D-806F-6D9B3C19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30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D71D8-CD2E-4A29-8BF2-1C777697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57210"/>
                </a:solidFill>
              </a:defRPr>
            </a:pPr>
            <a:r>
              <a:rPr sz="1425" b="1">
                <a:solidFill>
                  <a:srgbClr val="B57210"/>
                </a:solidFill>
              </a:rPr>
              <a:t>Pre-seed priorities: product • growth •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AB8CB-BD29-40AE-B0CF-8A1106CC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570"/>
                </a:solidFill>
              </a:defRPr>
            </a:pPr>
            <a:r>
              <a:rPr sz="975" b="1">
                <a:solidFill>
                  <a:srgbClr val="5F55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35983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E2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48516-61D0-47A9-92FF-FA1AD6D6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D2EF"/>
                </a:solidFill>
              </a:defRPr>
            </a:pPr>
            <a:r>
              <a:rPr sz="1125" b="1">
                <a:solidFill>
                  <a:srgbClr val="DDD2EF"/>
                </a:solidFill>
              </a:rPr>
              <a:t>THE PRE-SEED 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C1ADD-5CD3-435E-826D-FCC17B10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Help build the trusted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social layer for the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next generation.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98C7A-D065-4041-8E29-D9F461A7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3695700" cy="455295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C46EA-4719-45A3-B998-AC2327A5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2382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2440"/>
                </a:solidFill>
              </a:defRPr>
            </a:pPr>
            <a:r>
              <a:rPr sz="1275" b="1">
                <a:solidFill>
                  <a:srgbClr val="2E2440"/>
                </a:solidFill>
              </a:rPr>
              <a:t>USE OF FUNDS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4C326-8FAA-45AE-9804-78D4532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7210"/>
                </a:solidFill>
              </a:defRPr>
            </a:pPr>
            <a:r>
              <a:rPr sz="1200" b="1">
                <a:solidFill>
                  <a:srgbClr val="B57210"/>
                </a:solidFill>
              </a:rPr>
              <a:t>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12ABA-3DC6-40EA-9181-AA296AC5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D33"/>
                </a:solidFill>
              </a:defRPr>
            </a:pPr>
            <a:r>
              <a:rPr sz="1500" b="1">
                <a:solidFill>
                  <a:srgbClr val="241D33"/>
                </a:solidFill>
              </a:rPr>
              <a:t>Pilot → reliable public launch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A349E-EBD4-4ED9-816A-4FE8C09E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8607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7210"/>
                </a:solidFill>
              </a:defRPr>
            </a:pPr>
            <a:r>
              <a:rPr sz="1200" b="1">
                <a:solidFill>
                  <a:srgbClr val="B57210"/>
                </a:solidFill>
              </a:rPr>
              <a:t>GROWTH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00466-4949-4875-AB1E-95C1F6C9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9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D33"/>
                </a:solidFill>
              </a:defRPr>
            </a:pPr>
            <a:r>
              <a:rPr sz="1500" b="1">
                <a:solidFill>
                  <a:srgbClr val="241D33"/>
                </a:solidFill>
              </a:rPr>
              <a:t>Waitlist → focused early cohorts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FF519-91EB-4E21-8D3F-30796922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862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7210"/>
                </a:solidFill>
              </a:defRPr>
            </a:pPr>
            <a:r>
              <a:rPr sz="1200" b="1">
                <a:solidFill>
                  <a:srgbClr val="B57210"/>
                </a:solidFill>
              </a:rPr>
              <a:t>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4865B-B607-4A41-A16B-BA597BA7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D33"/>
                </a:solidFill>
              </a:defRPr>
            </a:pPr>
            <a:r>
              <a:rPr sz="1500" b="1">
                <a:solidFill>
                  <a:srgbClr val="241D33"/>
                </a:solidFill>
              </a:rPr>
              <a:t>Core engineering and product hires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E7B52-BAA0-4CD0-A972-729747C1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9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5570"/>
                </a:solidFill>
              </a:defRPr>
            </a:pPr>
            <a:r>
              <a:rPr sz="1275" b="1">
                <a:solidFill>
                  <a:srgbClr val="5F5570"/>
                </a:solidFill>
              </a:rPr>
              <a:t>Raise amount: to be finalised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44B14-7DF1-4C0B-B0D3-D2EEB904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DD2EF"/>
                </a:solidFill>
              </a:defRPr>
            </a:pPr>
            <a:r>
              <a:rPr sz="1425" b="1">
                <a:solidFill>
                  <a:srgbClr val="DDD2EF"/>
                </a:solidFill>
              </a:rPr>
              <a:t>Sampath Kumar  •  Founder &amp; CEO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D80EA-3C9F-4D9B-9F41-DED1EA99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VOIID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EEDD8-C0E5-4B89-B432-B47D2BAF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5570"/>
                </a:solidFill>
              </a:defRPr>
            </a:pPr>
            <a:r>
              <a:rPr sz="975" b="1">
                <a:solidFill>
                  <a:srgbClr val="5F557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4775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2026-08-31T05:34:09.6260000Z</dcterms:created>
  <dcterms:modified xsi:type="dcterms:W3CDTF">2026-08-31T05:34:09.6260000Z</dcterms:modified>
</coreProperties>
</file>