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fd8c51ce964c6a" /><Relationship Type="http://schemas.openxmlformats.org/officeDocument/2006/relationships/extended-properties" Target="/docProps/app.xml" Id="R279eda80a4aa4adf" /><Relationship Type="http://schemas.openxmlformats.org/officeDocument/2006/relationships/officeDocument" Target="/ppt/presentation.xml" Id="R0f451376611e44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43071a334a475c"/>
  </p:sldMasterIdLst>
  <p:notesMasterIdLst>
    <p:notesMasterId xmlns:r="http://schemas.openxmlformats.org/officeDocument/2006/relationships" r:id="R8e3287045dfc4203"/>
  </p:notesMasterIdLst>
  <p:sldIdLst>
    <p:sldId xmlns:r="http://schemas.openxmlformats.org/officeDocument/2006/relationships" id="256" r:id="R33e9180b21f549ed"/>
    <p:sldId xmlns:r="http://schemas.openxmlformats.org/officeDocument/2006/relationships" id="257" r:id="R6fba29e8c9924122"/>
    <p:sldId xmlns:r="http://schemas.openxmlformats.org/officeDocument/2006/relationships" id="258" r:id="R53464f0abfa54a26"/>
    <p:sldId xmlns:r="http://schemas.openxmlformats.org/officeDocument/2006/relationships" id="259" r:id="R2d92092c720a471d"/>
    <p:sldId xmlns:r="http://schemas.openxmlformats.org/officeDocument/2006/relationships" id="260" r:id="Rd7bc8fd62cdf442a"/>
    <p:sldId xmlns:r="http://schemas.openxmlformats.org/officeDocument/2006/relationships" id="261" r:id="R2c3b0ce864e84720"/>
    <p:sldId xmlns:r="http://schemas.openxmlformats.org/officeDocument/2006/relationships" id="262" r:id="R29d49dd14de549fe"/>
    <p:sldId xmlns:r="http://schemas.openxmlformats.org/officeDocument/2006/relationships" id="263" r:id="R1b7dc0759a0c4bb2"/>
    <p:sldId xmlns:r="http://schemas.openxmlformats.org/officeDocument/2006/relationships" id="264" r:id="Rad4fbf8ec44f4d59"/>
    <p:sldId xmlns:r="http://schemas.openxmlformats.org/officeDocument/2006/relationships" id="265" r:id="R1aaa67b6d39c43f8"/>
    <p:sldId xmlns:r="http://schemas.openxmlformats.org/officeDocument/2006/relationships" id="266" r:id="Ra9af222a0f6c4652"/>
    <p:sldId xmlns:r="http://schemas.openxmlformats.org/officeDocument/2006/relationships" id="267" r:id="R12e99f5f460f4d72"/>
    <p:sldId xmlns:r="http://schemas.openxmlformats.org/officeDocument/2006/relationships" id="268" r:id="R55ded32f74304978"/>
    <p:sldId xmlns:r="http://schemas.openxmlformats.org/officeDocument/2006/relationships" id="269" r:id="Re91134922bbf405f"/>
    <p:sldId xmlns:r="http://schemas.openxmlformats.org/officeDocument/2006/relationships" id="270" r:id="Raacb338b54ea4703"/>
    <p:sldId xmlns:r="http://schemas.openxmlformats.org/officeDocument/2006/relationships" id="271" r:id="Rdf9c7c864de74633"/>
    <p:sldId xmlns:r="http://schemas.openxmlformats.org/officeDocument/2006/relationships" id="272" r:id="Rb1232bc800f24f33"/>
    <p:sldId xmlns:r="http://schemas.openxmlformats.org/officeDocument/2006/relationships" id="273" r:id="R1215ed49143544f8"/>
    <p:sldId xmlns:r="http://schemas.openxmlformats.org/officeDocument/2006/relationships" id="274" r:id="R3b446c62c6ea472a"/>
    <p:sldId xmlns:r="http://schemas.openxmlformats.org/officeDocument/2006/relationships" id="275" r:id="Ra1eef8ff60c44fee"/>
    <p:sldId xmlns:r="http://schemas.openxmlformats.org/officeDocument/2006/relationships" id="276" r:id="R7eab6006b6ee49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1873b3032e426f" /><Relationship Type="http://schemas.openxmlformats.org/officeDocument/2006/relationships/slideMaster" Target="/ppt/slideMasters/slideMaster1.xml" Id="Rb643071a334a475c" /><Relationship Type="http://schemas.openxmlformats.org/officeDocument/2006/relationships/notesMaster" Target="/ppt/notesMasters/notesMaster1.xml" Id="R8e3287045dfc4203" /><Relationship Type="http://schemas.openxmlformats.org/officeDocument/2006/relationships/presProps" Target="/ppt/presProps.xml" Id="R111b45a16e314781" /><Relationship Type="http://schemas.openxmlformats.org/officeDocument/2006/relationships/tableStyles" Target="/ppt/tableStyles.xml" Id="Rb428e53fabb94486" /><Relationship Type="http://schemas.openxmlformats.org/officeDocument/2006/relationships/slide" Target="/ppt/slides/slide1.xml" Id="R33e9180b21f549ed" /><Relationship Type="http://schemas.openxmlformats.org/officeDocument/2006/relationships/slide" Target="/ppt/slides/slide2.xml" Id="R6fba29e8c9924122" /><Relationship Type="http://schemas.openxmlformats.org/officeDocument/2006/relationships/slide" Target="/ppt/slides/slide3.xml" Id="R53464f0abfa54a26" /><Relationship Type="http://schemas.openxmlformats.org/officeDocument/2006/relationships/slide" Target="/ppt/slides/slide4.xml" Id="R2d92092c720a471d" /><Relationship Type="http://schemas.openxmlformats.org/officeDocument/2006/relationships/slide" Target="/ppt/slides/slide5.xml" Id="Rd7bc8fd62cdf442a" /><Relationship Type="http://schemas.openxmlformats.org/officeDocument/2006/relationships/slide" Target="/ppt/slides/slide6.xml" Id="R2c3b0ce864e84720" /><Relationship Type="http://schemas.openxmlformats.org/officeDocument/2006/relationships/slide" Target="/ppt/slides/slide7.xml" Id="R29d49dd14de549fe" /><Relationship Type="http://schemas.openxmlformats.org/officeDocument/2006/relationships/slide" Target="/ppt/slides/slide8.xml" Id="R1b7dc0759a0c4bb2" /><Relationship Type="http://schemas.openxmlformats.org/officeDocument/2006/relationships/slide" Target="/ppt/slides/slide9.xml" Id="Rad4fbf8ec44f4d59" /><Relationship Type="http://schemas.openxmlformats.org/officeDocument/2006/relationships/slide" Target="/ppt/slides/slide10.xml" Id="R1aaa67b6d39c43f8" /><Relationship Type="http://schemas.openxmlformats.org/officeDocument/2006/relationships/slide" Target="/ppt/slides/slide11.xml" Id="Ra9af222a0f6c4652" /><Relationship Type="http://schemas.openxmlformats.org/officeDocument/2006/relationships/slide" Target="/ppt/slides/slide12.xml" Id="R12e99f5f460f4d72" /><Relationship Type="http://schemas.openxmlformats.org/officeDocument/2006/relationships/slide" Target="/ppt/slides/slide13.xml" Id="R55ded32f74304978" /><Relationship Type="http://schemas.openxmlformats.org/officeDocument/2006/relationships/slide" Target="/ppt/slides/slide14.xml" Id="Re91134922bbf405f" /><Relationship Type="http://schemas.openxmlformats.org/officeDocument/2006/relationships/slide" Target="/ppt/slides/slide15.xml" Id="Raacb338b54ea4703" /><Relationship Type="http://schemas.openxmlformats.org/officeDocument/2006/relationships/slide" Target="/ppt/slides/slide16.xml" Id="Rdf9c7c864de74633" /><Relationship Type="http://schemas.openxmlformats.org/officeDocument/2006/relationships/slide" Target="/ppt/slides/slide17.xml" Id="Rb1232bc800f24f33" /><Relationship Type="http://schemas.openxmlformats.org/officeDocument/2006/relationships/slide" Target="/ppt/slides/slide18.xml" Id="R1215ed49143544f8" /><Relationship Type="http://schemas.openxmlformats.org/officeDocument/2006/relationships/slide" Target="/ppt/slides/slide19.xml" Id="R3b446c62c6ea472a" /><Relationship Type="http://schemas.openxmlformats.org/officeDocument/2006/relationships/slide" Target="/ppt/slides/slide20.xml" Id="Ra1eef8ff60c44fee" /><Relationship Type="http://schemas.openxmlformats.org/officeDocument/2006/relationships/slide" Target="/ppt/slides/slide21.xml" Id="R7eab6006b6ee49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52a1ace03046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bf6acb7a47484f" /><Relationship Type="http://schemas.openxmlformats.org/officeDocument/2006/relationships/notesMaster" Target="/ppt/notesMasters/notesMaster1.xml" Id="R12038257394c42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a6c0ce7ba94b8a" /><Relationship Type="http://schemas.openxmlformats.org/officeDocument/2006/relationships/notesMaster" Target="/ppt/notesMasters/notesMaster1.xml" Id="R11f6d6d5555b40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f2d6ee7b8c4c54" /><Relationship Type="http://schemas.openxmlformats.org/officeDocument/2006/relationships/notesMaster" Target="/ppt/notesMasters/notesMaster1.xml" Id="R4f520400661b44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09a3f13749414f" /><Relationship Type="http://schemas.openxmlformats.org/officeDocument/2006/relationships/notesMaster" Target="/ppt/notesMasters/notesMaster1.xml" Id="R1ef418cad9ef48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21d27fae9d47e7" /><Relationship Type="http://schemas.openxmlformats.org/officeDocument/2006/relationships/notesMaster" Target="/ppt/notesMasters/notesMaster1.xml" Id="R39e9e843a6f94d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f2706b90a0426c" /><Relationship Type="http://schemas.openxmlformats.org/officeDocument/2006/relationships/notesMaster" Target="/ppt/notesMasters/notesMaster1.xml" Id="Rc775a9cf55414d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9368e183494554" /><Relationship Type="http://schemas.openxmlformats.org/officeDocument/2006/relationships/notesMaster" Target="/ppt/notesMasters/notesMaster1.xml" Id="R16eb0ad00cd349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58bd4938f04e25" /><Relationship Type="http://schemas.openxmlformats.org/officeDocument/2006/relationships/notesMaster" Target="/ppt/notesMasters/notesMaster1.xml" Id="Rc1fa38b3772946b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bb78ceea26464a" /><Relationship Type="http://schemas.openxmlformats.org/officeDocument/2006/relationships/notesMaster" Target="/ppt/notesMasters/notesMaster1.xml" Id="R4986de316a8446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e57e8da59ca49d0" /><Relationship Type="http://schemas.openxmlformats.org/officeDocument/2006/relationships/notesMaster" Target="/ppt/notesMasters/notesMaster1.xml" Id="R6a8c686179df462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8fce7c17dfe4fe4" /><Relationship Type="http://schemas.openxmlformats.org/officeDocument/2006/relationships/notesMaster" Target="/ppt/notesMasters/notesMaster1.xml" Id="R7026fb55ab0f41d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09fba9736134f9e" /><Relationship Type="http://schemas.openxmlformats.org/officeDocument/2006/relationships/notesMaster" Target="/ppt/notesMasters/notesMaster1.xml" Id="R12c95416f59f49d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35362e0af1a4216" /><Relationship Type="http://schemas.openxmlformats.org/officeDocument/2006/relationships/notesMaster" Target="/ppt/notesMasters/notesMaster1.xml" Id="R7d388f9d3d26448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9564e9501e84751" /><Relationship Type="http://schemas.openxmlformats.org/officeDocument/2006/relationships/notesMaster" Target="/ppt/notesMasters/notesMaster1.xml" Id="R33522f44920945c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99e4ebef2094495" /><Relationship Type="http://schemas.openxmlformats.org/officeDocument/2006/relationships/notesMaster" Target="/ppt/notesMasters/notesMaster1.xml" Id="R574e305f4846409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2d9a01d227e432f" /><Relationship Type="http://schemas.openxmlformats.org/officeDocument/2006/relationships/notesMaster" Target="/ppt/notesMasters/notesMaster1.xml" Id="Rb291d36071eb44c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faca4b16ad4448d" /><Relationship Type="http://schemas.openxmlformats.org/officeDocument/2006/relationships/notesMaster" Target="/ppt/notesMasters/notesMaster1.xml" Id="Rce09ee89d01d42b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915e503245042c6" /><Relationship Type="http://schemas.openxmlformats.org/officeDocument/2006/relationships/notesMaster" Target="/ppt/notesMasters/notesMaster1.xml" Id="R52a744798eca44c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d44b6bec7d2489c" /><Relationship Type="http://schemas.openxmlformats.org/officeDocument/2006/relationships/notesMaster" Target="/ppt/notesMasters/notesMaster1.xml" Id="R75393385087b410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f300b1ea1794dd9" /><Relationship Type="http://schemas.openxmlformats.org/officeDocument/2006/relationships/notesMaster" Target="/ppt/notesMasters/notesMaster1.xml" Id="Ra61a50da1b47400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87cb0b80a454e7f" /><Relationship Type="http://schemas.openxmlformats.org/officeDocument/2006/relationships/notesMaster" Target="/ppt/notesMasters/notesMaster1.xml" Id="R61a27dbb093646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Product positioning and brand assets: Voiid repository README.md and docs/LANDING_PAGE_BRIEF.md.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Problem framing: founder-provided positioning and product scope in docs/LANDING_PAGE_BRIEF.md.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Feature scope: docs/LANDING_PAGE_BRIEF.md and product assets in apps/ios/Voiid/Voiid/Assets.xcassets.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Feature status synthesised from the Voiid iOS/backend repository and docs/COMMUNITY_COMMERCE_PLAN.md. Payments and commerce are roadmap, not live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Architecture claims: README.md Golden rules; privacy boundaries: docs/LANDING_PAGE_BRIEF.md.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Product sequence: repository feature set and docs/COMMUNITY_COMMERCE_PLAN.md.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No external market-size claim used. Geographic positioning: founder line in docs/LANDING_PAGE_BRIEF.md.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TRAI: https://trai.gov.in/sites/default/files/2025-07/YIR_08072025_0.pdf</a:t>
            </a:r>
          </a:p>
          <a:p xmlns:a="http://schemas.openxmlformats.org/drawingml/2006/main">
            <a:r>
              <a:t>DataReportal India: https://datareportal.com/reports/digital-2025-india</a:t>
            </a:r>
          </a:p>
          <a:p xmlns:a="http://schemas.openxmlformats.org/drawingml/2006/main">
            <a:r>
              <a:t>DataReportal global: https://datareportal.com/reports/digital-2026-two-in-three-people-use-social-media</a:t>
            </a:r>
          </a:p>
          <a:p xmlns:a="http://schemas.openxmlformats.org/drawingml/2006/main">
            <a:r>
              <a:t>PIB/BCG creator economy: https://www.pib.gov.in/PressReleaseIframePage.aspx?PRID=2126106&amp;lang=2&amp;reg=48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Business-model roadmap: docs/COMMUNITY_COMMERCE_PLAN.md. Paid payment provider is not yet live.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Category-level competitive framing; no unsupported competitor-specific claim is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Stage and traction provided directly by founder: pre-seed, pilot testing, waitlist starting soon.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Proposed pre-seed GTM based on the pilot and upcoming waitlist; metrics are targets to instrument, not reported 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Roadmap synthesis based on current pilot stage and repository plans; timing is a planning assumption for discussion.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Founder name and role supplied directly by the user. No unverified biography claims added.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DataReportal India: https://datareportal.com/reports/digital-2025-india</a:t>
            </a:r>
          </a:p>
          <a:p xmlns:a="http://schemas.openxmlformats.org/drawingml/2006/main">
            <a:r>
              <a:t>NPCI UPI statistics: https://www.npci.org.in/product/upi/product-statistics</a:t>
            </a:r>
          </a:p>
          <a:p xmlns:a="http://schemas.openxmlformats.org/drawingml/2006/main">
            <a:r>
              <a:t>PIB/BCG creator economy: https://www.pib.gov.in/PressReleaseIframePage.aspx?PRID=2126106&amp;lang=2&amp;reg=48</a:t>
            </a:r>
          </a:p>
          <a:p xmlns:a="http://schemas.openxmlformats.org/drawingml/2006/main">
            <a:r>
              <a:t>Meta India payment integration: https://about.fb.com/news/2026/04/bringing-prepaid-mobile-recharges-to-whatsapp-users-in-india/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Beachhead is a recommended ICP hypothesis derived from Voiid's community-led product and GTM. Validate through the pilot before presenting it as proven.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Metric framework follows Stripe Atlas guidance to demonstrate understanding of stage-appropriate metrics when instrumentation is still being established: https://stripe.com/in/guides/atlas/pitching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TAM source: https://datareportal.com/reports/digital-2026-two-in-three-people-use-social-media</a:t>
            </a:r>
          </a:p>
          <a:p xmlns:a="http://schemas.openxmlformats.org/drawingml/2006/main">
            <a:r>
              <a:t>SAM source: https://datareportal.com/reports/digital-2025-india</a:t>
            </a:r>
          </a:p>
          <a:p xmlns:a="http://schemas.openxmlformats.org/drawingml/2006/main">
            <a:r>
              <a:t>SOM intentionally remains formula-based until pilot retention, pricing and transaction data exist.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Revenue mechanics reflect docs/COMMUNITY_COMMERCE_PLAN.md. Payments and commerce remain roadmap; do not report GMV as revenue. Metric treatment reference: https://stripe.com/in/guides/atlas/pitching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Milestone framework for the pre-seed round. Numeric thresholds and dates should be finalised after the pilot baseline and raise amount are confirmed.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Round stage provided by founder. Allocation supplied by founder: 60% development and infrastructure, 25% user growth, 10% operations, 5% creator ecosystem. Total verified at 100%. Raise amount remains to be finalised.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e6d39ed4384c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41f64856814a29" /><Relationship Type="http://schemas.openxmlformats.org/officeDocument/2006/relationships/slideLayout" Target="/ppt/slideLayouts/slideLayout1.xml" Id="R71456b5da73640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456b5da73640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31fdd041e84bb1" /><Relationship Type="http://schemas.openxmlformats.org/officeDocument/2006/relationships/image" Target="/ppt/media/image.png" Id="R96c2896404944abe" /><Relationship Type="http://schemas.openxmlformats.org/officeDocument/2006/relationships/notesSlide" Target="/ppt/notesSlides/notesSlide1.xml" Id="Re2ab78c83ac349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d7fa20e744737" /><Relationship Type="http://schemas.openxmlformats.org/officeDocument/2006/relationships/notesSlide" Target="/ppt/notesSlides/notesSlide2.xml" Id="R298697df187245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bceb51555415c" /><Relationship Type="http://schemas.openxmlformats.org/officeDocument/2006/relationships/notesSlide" Target="/ppt/notesSlides/notesSlide3.xml" Id="Rcbd4d34724f74e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cff0736d041aa" /><Relationship Type="http://schemas.openxmlformats.org/officeDocument/2006/relationships/notesSlide" Target="/ppt/notesSlides/notesSlide4.xml" Id="R9516966e767245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7ed28567d409a" /><Relationship Type="http://schemas.openxmlformats.org/officeDocument/2006/relationships/notesSlide" Target="/ppt/notesSlides/notesSlide5.xml" Id="R1054a6d8f49e48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a86b1e4dd48d3" /><Relationship Type="http://schemas.openxmlformats.org/officeDocument/2006/relationships/notesSlide" Target="/ppt/notesSlides/notesSlide6.xml" Id="R10aec0ad292e4d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d83ede49541af" /><Relationship Type="http://schemas.openxmlformats.org/officeDocument/2006/relationships/notesSlide" Target="/ppt/notesSlides/notesSlide7.xml" Id="Raea8ef766dbc4c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f625b10a64d27" /><Relationship Type="http://schemas.openxmlformats.org/officeDocument/2006/relationships/notesSlide" Target="/ppt/notesSlides/notesSlide8.xml" Id="R8821af31807a42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a9f3271e9f4612" /><Relationship Type="http://schemas.openxmlformats.org/officeDocument/2006/relationships/notesSlide" Target="/ppt/notesSlides/notesSlide9.xml" Id="Rbf2882c21ec7419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a944d9e86d4493" /><Relationship Type="http://schemas.openxmlformats.org/officeDocument/2006/relationships/notesSlide" Target="/ppt/notesSlides/notesSlide10.xml" Id="Re5dd42de0e4b4cf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495969e204689" /><Relationship Type="http://schemas.openxmlformats.org/officeDocument/2006/relationships/notesSlide" Target="/ppt/notesSlides/notesSlide11.xml" Id="Rd8a05edae11445d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20fcb512e74982" /><Relationship Type="http://schemas.openxmlformats.org/officeDocument/2006/relationships/notesSlide" Target="/ppt/notesSlides/notesSlide12.xml" Id="R42523c525e7d4a3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ec5cbbe8b48ac" /><Relationship Type="http://schemas.openxmlformats.org/officeDocument/2006/relationships/notesSlide" Target="/ppt/notesSlides/notesSlide13.xml" Id="Rc3cee0bbd29c487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c3cb9bd49a45a2" /><Relationship Type="http://schemas.openxmlformats.org/officeDocument/2006/relationships/notesSlide" Target="/ppt/notesSlides/notesSlide14.xml" Id="R319cf52cc8f04e7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ae868f5e744818" /><Relationship Type="http://schemas.openxmlformats.org/officeDocument/2006/relationships/notesSlide" Target="/ppt/notesSlides/notesSlide15.xml" Id="R0b39d5404bc947a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df4f9f37849cc" /><Relationship Type="http://schemas.openxmlformats.org/officeDocument/2006/relationships/notesSlide" Target="/ppt/notesSlides/notesSlide16.xml" Id="Rdaf23993c95d4db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a4aae8b724ac7" /><Relationship Type="http://schemas.openxmlformats.org/officeDocument/2006/relationships/notesSlide" Target="/ppt/notesSlides/notesSlide17.xml" Id="R3c5df2e1e38f4e5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018a34c374a5c" /><Relationship Type="http://schemas.openxmlformats.org/officeDocument/2006/relationships/notesSlide" Target="/ppt/notesSlides/notesSlide18.xml" Id="Rbeb20acbaec9481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ab874048b4237" /><Relationship Type="http://schemas.openxmlformats.org/officeDocument/2006/relationships/notesSlide" Target="/ppt/notesSlides/notesSlide19.xml" Id="R00cde79610974f1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a85832b234a86" /><Relationship Type="http://schemas.openxmlformats.org/officeDocument/2006/relationships/notesSlide" Target="/ppt/notesSlides/notesSlide20.xml" Id="R71200b96cc9040e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7865cb5f5450f" /><Relationship Type="http://schemas.openxmlformats.org/officeDocument/2006/relationships/notesSlide" Target="/ppt/notesSlides/notesSlide21.xml" Id="R5adc345cb3b143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012EAD-425C-4E1B-B12E-2A4BD3A8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0"/>
            <a:ext cx="4667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28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c2896404944ab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0" y="1476375"/>
            <a:ext cx="2571750" cy="2571750"/>
          </a:xfrm>
          <a:prstGeom xmlns:a="http://schemas.openxmlformats.org/drawingml/2006/main" prst="roundRect">
            <a:avLst>
              <a:gd name="adj" fmla="val 21481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458156-89E6-4C7E-B300-A2F7D106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828C"/>
                </a:solidFill>
              </a:defRPr>
            </a:pPr>
            <a:r>
              <a:rPr sz="2025" b="1">
                <a:solidFill>
                  <a:srgbClr val="13828C"/>
                </a:solidFill>
              </a:rPr>
              <a:t>Voiid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76310B-0380-4B6E-83AD-F120AA3D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01617"/>
                </a:solidFill>
              </a:defRPr>
            </a:pPr>
            <a:r>
              <a:rPr sz="4500" b="1">
                <a:solidFill>
                  <a:srgbClr val="101617"/>
                </a:solidFill>
              </a:rPr>
              <a:t>Built in India.</a:t>
            </a:r>
          </a:p>
          <a:p xmlns:a="http://schemas.openxmlformats.org/drawingml/2006/main">
            <a:pPr algn="l">
              <a:defRPr sz="4500" b="1">
                <a:solidFill>
                  <a:srgbClr val="101617"/>
                </a:solidFill>
              </a:defRPr>
            </a:pPr>
            <a:r>
              <a:rPr sz="4500" b="1">
                <a:solidFill>
                  <a:srgbClr val="101617"/>
                </a:solidFill>
              </a:rPr>
              <a:t>For the world.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E4767-2792-4030-98B6-E9C271A6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96C"/>
                </a:solidFill>
              </a:defRPr>
            </a:pPr>
            <a:r>
              <a:rPr sz="1875" b="0">
                <a:solidFill>
                  <a:srgbClr val="5D696C"/>
                </a:solidFill>
              </a:rPr>
              <a:t>The private social stack for communication, community, content and commerce.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D3D451-21DF-48F9-A720-DE41A764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3144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2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6E1E46-D194-468D-BD47-BCADE853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38725"/>
            <a:ext cx="1085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PRE-SEED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0E37FB-18E4-451C-82B2-E799FBE8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953000"/>
            <a:ext cx="17526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EF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DB4BA1-363A-4976-8C12-B8D677B5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038725"/>
            <a:ext cx="152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3828C"/>
                </a:solidFill>
              </a:defRPr>
            </a:pPr>
            <a:r>
              <a:rPr sz="1200" b="1">
                <a:solidFill>
                  <a:srgbClr val="13828C"/>
                </a:solidFill>
              </a:rPr>
              <a:t>PILOT TESTING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3B9CA6-7ED3-405D-851A-F356988F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617"/>
                </a:solidFill>
              </a:defRPr>
            </a:pPr>
            <a:r>
              <a:rPr sz="1350" b="1">
                <a:solidFill>
                  <a:srgbClr val="101617"/>
                </a:solidFill>
              </a:rPr>
              <a:t>Sampath Kumar  •  Founder &amp; CEO</a:t>
            </a:r>
          </a:p>
        </p:txBody>
      </p:sp>
    </p:spTree>
    <p:extLst>
      <p:ext uri="{BB962C8B-B14F-4D97-AF65-F5344CB8AC3E}">
        <p14:creationId xmlns:p14="http://schemas.microsoft.com/office/powerpoint/2010/main" val="14764418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D01F2D-BA0A-46F6-8577-BB040B56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828C"/>
                </a:solidFill>
              </a:defRPr>
            </a:pPr>
            <a:r>
              <a:rPr sz="1050" b="1">
                <a:solidFill>
                  <a:srgbClr val="13828C"/>
                </a:solidFill>
              </a:rPr>
              <a:t>VOIID • PRE-SEED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F1B658-03B5-4938-8FCD-61C76294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617"/>
                </a:solidFill>
              </a:defRPr>
            </a:pPr>
            <a:r>
              <a:rPr sz="3000" b="1">
                <a:solidFill>
                  <a:srgbClr val="101617"/>
                </a:solidFill>
              </a:rPr>
              <a:t>Digital life is fragmented—and trust is the casualty.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DC1CE5-62F1-4EDC-8C46-8D4659B6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2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ED16EC-9ECD-4807-BCB4-AD972163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676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96C"/>
                </a:solidFill>
              </a:defRPr>
            </a:pPr>
            <a:r>
              <a:rPr sz="1875" b="0">
                <a:solidFill>
                  <a:srgbClr val="5D696C"/>
                </a:solidFill>
              </a:rPr>
              <a:t>People switch between apps to message, call, share moments, meet communities and play. Each handoff adds friction; each platform asks for more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350536-AF5E-47EF-A6C8-99A97D9A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16207"/>
                </a:solidFill>
              </a:defRPr>
            </a:pPr>
            <a:r>
              <a:rPr sz="1800" b="1">
                <a:solidFill>
                  <a:srgbClr val="A16207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751425-E861-4BDF-BB15-207C6116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43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828C"/>
                </a:solidFill>
              </a:defRPr>
            </a:pPr>
            <a:r>
              <a:rPr sz="1350" b="1">
                <a:solidFill>
                  <a:srgbClr val="13828C"/>
                </a:solidFill>
              </a:rPr>
              <a:t>FRAGMENTATION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496F7F-F37F-4695-92F5-050C5852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432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617"/>
                </a:solidFill>
              </a:defRPr>
            </a:pPr>
            <a:r>
              <a:rPr sz="1650" b="0">
                <a:solidFill>
                  <a:srgbClr val="101617"/>
                </a:solidFill>
              </a:rPr>
              <a:t>Too many apps for one social life.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9480B1-316A-4FDB-B1E5-6AECF3FB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16207"/>
                </a:solidFill>
              </a:defRPr>
            </a:pPr>
            <a:r>
              <a:rPr sz="1800" b="1">
                <a:solidFill>
                  <a:srgbClr val="A16207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BC65E5-0C9C-4555-8DA1-ABC1A7A6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57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828C"/>
                </a:solidFill>
              </a:defRPr>
            </a:pPr>
            <a:r>
              <a:rPr sz="1350" b="1">
                <a:solidFill>
                  <a:srgbClr val="13828C"/>
                </a:solidFill>
              </a:rPr>
              <a:t>SURVEILLANCE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7147BD-C0E4-4D06-8EB1-0862E2CF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576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617"/>
                </a:solidFill>
              </a:defRPr>
            </a:pPr>
            <a:r>
              <a:rPr sz="1650" b="0">
                <a:solidFill>
                  <a:srgbClr val="101617"/>
                </a:solidFill>
              </a:rPr>
              <a:t>Convenience often trades against privacy.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A01550-22B2-41F4-B1AE-5896CF45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16207"/>
                </a:solidFill>
              </a:defRPr>
            </a:pPr>
            <a:r>
              <a:rPr sz="1800" b="1">
                <a:solidFill>
                  <a:srgbClr val="A16207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DA8317-0158-447F-8F2A-1409BD9F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72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828C"/>
                </a:solidFill>
              </a:defRPr>
            </a:pPr>
            <a:r>
              <a:rPr sz="1350" b="1">
                <a:solidFill>
                  <a:srgbClr val="13828C"/>
                </a:solidFill>
              </a:rPr>
              <a:t>WEAK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B4B3C5-328E-4E12-BF5F-B3EE1FAA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9720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617"/>
                </a:solidFill>
              </a:defRPr>
            </a:pPr>
            <a:r>
              <a:rPr sz="1650" b="0">
                <a:solidFill>
                  <a:srgbClr val="101617"/>
                </a:solidFill>
              </a:rPr>
              <a:t>Chats, communities and shared experiences live apart.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C5EA56-4035-4B8B-B987-DEDA7698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96C"/>
                </a:solidFill>
              </a:defRPr>
            </a:pPr>
            <a:r>
              <a:rPr sz="975" b="1">
                <a:solidFill>
                  <a:srgbClr val="5D696C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132400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112AB0-229C-446A-B1EA-57558D73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828C"/>
                </a:solidFill>
              </a:defRPr>
            </a:pPr>
            <a:r>
              <a:rPr sz="1050" b="1">
                <a:solidFill>
                  <a:srgbClr val="13828C"/>
                </a:solidFill>
              </a:rPr>
              <a:t>VOIID • PRE-SEED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AE42B1-F6A0-40EF-B5A3-329C5CB2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617"/>
                </a:solidFill>
              </a:defRPr>
            </a:pPr>
            <a:r>
              <a:rPr sz="3000" b="1">
                <a:solidFill>
                  <a:srgbClr val="101617"/>
                </a:solidFill>
              </a:rPr>
              <a:t>Voiid brings the social stack into one private home.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DE1860-5B28-43F3-A4CE-ADDB86DF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2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DCE2B0-F8D0-4CA2-A2C3-DE21859B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696C"/>
                </a:solidFill>
              </a:defRPr>
            </a:pPr>
            <a:r>
              <a:rPr sz="2025" b="0">
                <a:solidFill>
                  <a:srgbClr val="5D696C"/>
                </a:solidFill>
              </a:rPr>
              <a:t>One identity. One trusted graph. Multiple ways to connect.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B6544F-D9C0-43F6-B7BC-45165BC6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2400300" cy="28575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B40ABB-4ACE-4A58-A414-34178C87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05150"/>
            <a:ext cx="952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9EF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5E86FB-11BE-4F32-877D-6E0599D6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1470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3828C"/>
                </a:solidFill>
              </a:defRPr>
            </a:pPr>
            <a:r>
              <a:rPr sz="2550" b="1">
                <a:solidFill>
                  <a:srgbClr val="13828C"/>
                </a:solidFill>
              </a:rPr>
              <a:t>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5E6261-E92C-412B-9665-1B1E1FAC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3828C"/>
                </a:solidFill>
              </a:defRPr>
            </a:pPr>
            <a:r>
              <a:rPr sz="1425" b="1">
                <a:solidFill>
                  <a:srgbClr val="13828C"/>
                </a:solidFill>
              </a:rPr>
              <a:t>MESSAGING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0531FD-5E33-4076-84BF-44DE62FD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D696C"/>
                </a:solidFill>
              </a:defRPr>
            </a:pPr>
            <a:r>
              <a:rPr sz="1350" b="0">
                <a:solidFill>
                  <a:srgbClr val="5D696C"/>
                </a:solidFill>
              </a:rPr>
              <a:t>Encrypted chats &amp; groups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808FF2-7B62-40E1-94F1-52C17374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00350"/>
            <a:ext cx="2400300" cy="28575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334CF1-D22B-4DA8-B4C4-78DD8A6D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05150"/>
            <a:ext cx="952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1E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E0B159-8025-40BD-81C3-3377AFAD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31470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7E22CE"/>
                </a:solidFill>
              </a:defRPr>
            </a:pPr>
            <a:r>
              <a:rPr sz="2550" b="1">
                <a:solidFill>
                  <a:srgbClr val="7E22CE"/>
                </a:solidFill>
              </a:rPr>
              <a:t>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2D97FB-DB77-44A6-97C1-21D40465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333875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3828C"/>
                </a:solidFill>
              </a:defRPr>
            </a:pPr>
            <a:r>
              <a:rPr sz="1425" b="1">
                <a:solidFill>
                  <a:srgbClr val="13828C"/>
                </a:solidFill>
              </a:rPr>
              <a:t>MOMENTS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BD9360-5B53-4879-AF04-B16E927C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76250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D696C"/>
                </a:solidFill>
              </a:defRPr>
            </a:pPr>
            <a:r>
              <a:rPr sz="1350" b="0">
                <a:solidFill>
                  <a:srgbClr val="5D696C"/>
                </a:solidFill>
              </a:rPr>
              <a:t>Share with the people who matter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C74ECE-59EB-4CDD-A7C5-C007B79F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0350"/>
            <a:ext cx="2400300" cy="28575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CC18A4-AD1E-4804-98F2-3320B5FE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05150"/>
            <a:ext cx="952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6E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CCE530-B794-454B-85E3-34D85C93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1470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D4ED8"/>
                </a:solidFill>
              </a:defRPr>
            </a:pPr>
            <a:r>
              <a:rPr sz="2550" b="1">
                <a:solidFill>
                  <a:srgbClr val="1D4ED8"/>
                </a:solidFill>
              </a:rPr>
              <a:t>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3F9621-46E8-45CC-9857-F3BFA1E6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33875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3828C"/>
                </a:solidFill>
              </a:defRPr>
            </a:pPr>
            <a:r>
              <a:rPr sz="1425" b="1">
                <a:solidFill>
                  <a:srgbClr val="13828C"/>
                </a:solidFill>
              </a:rPr>
              <a:t>CLIPS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21B80C-ACF2-48C0-8E26-694F9071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6250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D696C"/>
                </a:solidFill>
              </a:defRPr>
            </a:pPr>
            <a:r>
              <a:rPr sz="1350" b="0">
                <a:solidFill>
                  <a:srgbClr val="5D696C"/>
                </a:solidFill>
              </a:rPr>
              <a:t>Discover creators and culture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ADE55C-1367-4439-A054-D386D048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00350"/>
            <a:ext cx="2400300" cy="28575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1822DC-EAEA-44C6-8CB4-0E6324CF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05150"/>
            <a:ext cx="952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A613DF-42EF-4AD7-8558-C6BE40EB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1470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01617"/>
                </a:solidFill>
              </a:defRPr>
            </a:pPr>
            <a:r>
              <a:rPr sz="2550" b="1">
                <a:solidFill>
                  <a:srgbClr val="101617"/>
                </a:solidFill>
              </a:rPr>
              <a:t>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AA9158-0397-42BB-BE5A-3568EFAC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333875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3828C"/>
                </a:solidFill>
              </a:defRPr>
            </a:pPr>
            <a:r>
              <a:rPr sz="1425" b="1">
                <a:solidFill>
                  <a:srgbClr val="13828C"/>
                </a:solidFill>
              </a:rPr>
              <a:t>GAMES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D2CAD6-049E-427E-8390-77526FB7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6250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D696C"/>
                </a:solidFill>
              </a:defRPr>
            </a:pPr>
            <a:r>
              <a:rPr sz="1350" b="0">
                <a:solidFill>
                  <a:srgbClr val="5D696C"/>
                </a:solidFill>
              </a:rPr>
              <a:t>Play inside the conversation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CE01F1-1B90-4DDF-B7B2-F0674381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96C"/>
                </a:solidFill>
              </a:defRPr>
            </a:pPr>
            <a:r>
              <a:rPr sz="975" b="1">
                <a:solidFill>
                  <a:srgbClr val="5D696C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328652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62F4C8-2E94-4380-9674-7AE18407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828C"/>
                </a:solidFill>
              </a:defRPr>
            </a:pPr>
            <a:r>
              <a:rPr sz="1050" b="1">
                <a:solidFill>
                  <a:srgbClr val="13828C"/>
                </a:solidFill>
              </a:rPr>
              <a:t>VOIID • PRE-SEED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F7E45-9F4A-4DD6-9A8C-C2E54CF1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617"/>
                </a:solidFill>
              </a:defRPr>
            </a:pPr>
            <a:r>
              <a:rPr sz="3000" b="1">
                <a:solidFill>
                  <a:srgbClr val="101617"/>
                </a:solidFill>
              </a:rPr>
              <a:t>One social graph powers the entire stack.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ABA3DB-2F22-4292-B50A-A187E6F1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2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848E4D-C37E-42FB-A791-50DE6FAB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240030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257354-CB2B-4019-87C5-20F41840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828C"/>
                </a:solidFill>
              </a:defRPr>
            </a:pPr>
            <a:r>
              <a:rPr sz="1350" b="1">
                <a:solidFill>
                  <a:srgbClr val="13828C"/>
                </a:solidFill>
              </a:rPr>
              <a:t>CHAT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E320F-4052-4ACD-977D-85E444D4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384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617"/>
                </a:solidFill>
              </a:defRPr>
            </a:pPr>
            <a:r>
              <a:rPr sz="1500" b="1">
                <a:solidFill>
                  <a:srgbClr val="101617"/>
                </a:solidFill>
              </a:rPr>
              <a:t>Messages &amp; groups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F8B741-5574-4BA6-B7A4-EFCB43D0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8A58"/>
                </a:solidFill>
              </a:defRPr>
            </a:pPr>
            <a:r>
              <a:rPr sz="975" b="1">
                <a:solidFill>
                  <a:srgbClr val="238A58"/>
                </a:solidFill>
              </a:rPr>
              <a:t>LIVE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A47F1D-C29E-418D-BE83-F319DD81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57400"/>
            <a:ext cx="240030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9B9C62-2268-4FDF-8EC1-7FC15417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669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8A58"/>
                </a:solidFill>
              </a:defRPr>
            </a:pPr>
            <a:r>
              <a:rPr sz="1350" b="1">
                <a:solidFill>
                  <a:srgbClr val="238A58"/>
                </a:solidFill>
              </a:rPr>
              <a:t>CALLS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4BFFEB-0775-4392-BF30-E8963FF8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384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617"/>
                </a:solidFill>
              </a:defRPr>
            </a:pPr>
            <a:r>
              <a:rPr sz="1500" b="1">
                <a:solidFill>
                  <a:srgbClr val="101617"/>
                </a:solidFill>
              </a:rPr>
              <a:t>Voice &amp; video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BE2B5C-BDD7-498D-A9AE-AEF77FE0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242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8A58"/>
                </a:solidFill>
              </a:defRPr>
            </a:pPr>
            <a:r>
              <a:rPr sz="975" b="1">
                <a:solidFill>
                  <a:srgbClr val="238A58"/>
                </a:solidFill>
              </a:rPr>
              <a:t>LIVE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6B1688-CE61-444A-9AC2-B25229F7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57400"/>
            <a:ext cx="240030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E799B4-C39A-42CA-80B3-41E5BECB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669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E22CE"/>
                </a:solidFill>
              </a:defRPr>
            </a:pPr>
            <a:r>
              <a:rPr sz="1350" b="1">
                <a:solidFill>
                  <a:srgbClr val="7E22CE"/>
                </a:solidFill>
              </a:rPr>
              <a:t>STORIES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2519CA-0593-43D3-B3AE-3CF802A5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384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617"/>
                </a:solidFill>
              </a:defRPr>
            </a:pPr>
            <a:r>
              <a:rPr sz="1500" b="1">
                <a:solidFill>
                  <a:srgbClr val="101617"/>
                </a:solidFill>
              </a:rPr>
              <a:t>Private moments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709E19-A12D-4C25-9DF6-CC3CF609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242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8A58"/>
                </a:solidFill>
              </a:defRPr>
            </a:pPr>
            <a:r>
              <a:rPr sz="975" b="1">
                <a:solidFill>
                  <a:srgbClr val="238A58"/>
                </a:solidFill>
              </a:rPr>
              <a:t>LIVE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9F301E-F47C-46D6-863E-805E9B6E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57400"/>
            <a:ext cx="240030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9E05B9-6288-477A-A3BE-348A1384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669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4ED8"/>
                </a:solidFill>
              </a:defRPr>
            </a:pPr>
            <a:r>
              <a:rPr sz="1350" b="1">
                <a:solidFill>
                  <a:srgbClr val="1D4ED8"/>
                </a:solidFill>
              </a:rPr>
              <a:t>MAP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EF6ECD-4CD1-43E1-887F-BAB13B9F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384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617"/>
                </a:solidFill>
              </a:defRPr>
            </a:pPr>
            <a:r>
              <a:rPr sz="1500" b="1">
                <a:solidFill>
                  <a:srgbClr val="101617"/>
                </a:solidFill>
              </a:rPr>
              <a:t>Encrypted location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A20716-57AE-4EA7-960C-3D5F7426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242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8A58"/>
                </a:solidFill>
              </a:defRPr>
            </a:pPr>
            <a:r>
              <a:rPr sz="975" b="1">
                <a:solidFill>
                  <a:srgbClr val="238A58"/>
                </a:solidFill>
              </a:rPr>
              <a:t>LIVE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5B585A-3401-4DC0-B844-8B519AE6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240030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EDF1F1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50CFBB-6E1F-40C7-BD1C-76A70262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828C"/>
                </a:solidFill>
              </a:defRPr>
            </a:pPr>
            <a:r>
              <a:rPr sz="1350" b="1">
                <a:solidFill>
                  <a:srgbClr val="13828C"/>
                </a:solidFill>
              </a:rPr>
              <a:t>CLIPS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85FF2A-1366-4AFA-B5E3-13EDDAB3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481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617"/>
                </a:solidFill>
              </a:defRPr>
            </a:pPr>
            <a:r>
              <a:rPr sz="1500" b="1">
                <a:solidFill>
                  <a:srgbClr val="101617"/>
                </a:solidFill>
              </a:rPr>
              <a:t>Creator discovery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653505-9608-454D-BD28-E100F526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96C"/>
                </a:solidFill>
              </a:defRPr>
            </a:pPr>
            <a:r>
              <a:rPr sz="975" b="1">
                <a:solidFill>
                  <a:srgbClr val="5D696C"/>
                </a:solidFill>
              </a:rPr>
              <a:t>PILOT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D7C986-A6B9-4339-958F-952F96CE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67150"/>
            <a:ext cx="240030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95099E-9CB2-4D0F-A44B-3D15FA27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767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8A58"/>
                </a:solidFill>
              </a:defRPr>
            </a:pPr>
            <a:r>
              <a:rPr sz="1350" b="1">
                <a:solidFill>
                  <a:srgbClr val="238A58"/>
                </a:solidFill>
              </a:rPr>
              <a:t>GAMES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E76A47-81F0-42F9-8D8C-9D7EF287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4481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617"/>
                </a:solidFill>
              </a:defRPr>
            </a:pPr>
            <a:r>
              <a:rPr sz="1500" b="1">
                <a:solidFill>
                  <a:srgbClr val="101617"/>
                </a:solidFill>
              </a:rPr>
              <a:t>Play together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AE1141-9E05-461F-94A4-A876E4E4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9339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8A58"/>
                </a:solidFill>
              </a:defRPr>
            </a:pPr>
            <a:r>
              <a:rPr sz="975" b="1">
                <a:solidFill>
                  <a:srgbClr val="238A58"/>
                </a:solidFill>
              </a:rPr>
              <a:t>LIVE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1BE799-BC1D-431D-A6E1-8ACC8619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67150"/>
            <a:ext cx="240030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EDF1F1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7A21E1-E84B-4FA5-A48B-8F2BA6D2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E22CE"/>
                </a:solidFill>
              </a:defRPr>
            </a:pPr>
            <a:r>
              <a:rPr sz="1350" b="1">
                <a:solidFill>
                  <a:srgbClr val="7E22CE"/>
                </a:solidFill>
              </a:rPr>
              <a:t>COMMUNITIES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6EDBF5-19A0-464E-AB36-887093B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481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617"/>
                </a:solidFill>
              </a:defRPr>
            </a:pPr>
            <a:r>
              <a:rPr sz="1500" b="1">
                <a:solidFill>
                  <a:srgbClr val="101617"/>
                </a:solidFill>
              </a:rPr>
              <a:t>Belong &amp; organise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876B7D-7465-41D5-9598-B1DD1957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339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96C"/>
                </a:solidFill>
              </a:defRPr>
            </a:pPr>
            <a:r>
              <a:rPr sz="975" b="1">
                <a:solidFill>
                  <a:srgbClr val="5D696C"/>
                </a:solidFill>
              </a:rPr>
              <a:t>BUILDING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83B6AA-EB49-4210-BE19-81AC8370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67150"/>
            <a:ext cx="240030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EDF1F1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A5B04B-0CFA-49B1-A5E8-F145C3D0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767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4ED8"/>
                </a:solidFill>
              </a:defRPr>
            </a:pPr>
            <a:r>
              <a:rPr sz="1350" b="1">
                <a:solidFill>
                  <a:srgbClr val="1D4ED8"/>
                </a:solidFill>
              </a:rPr>
              <a:t>PAYMENTS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275251-C1A2-40FF-A2DE-696483A6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4481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617"/>
                </a:solidFill>
              </a:defRPr>
            </a:pPr>
            <a:r>
              <a:rPr sz="1500" b="1">
                <a:solidFill>
                  <a:srgbClr val="101617"/>
                </a:solidFill>
              </a:rPr>
              <a:t>Events &amp; commerce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54B939-C47D-4C3F-B201-A3DDF50C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9339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96C"/>
                </a:solidFill>
              </a:defRPr>
            </a:pPr>
            <a:r>
              <a:rPr sz="975" b="1">
                <a:solidFill>
                  <a:srgbClr val="5D696C"/>
                </a:solidFill>
              </a:rPr>
              <a:t>ROADMAP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EDFC79-4E29-440C-ACA8-85107815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828C"/>
                </a:solidFill>
              </a:defRPr>
            </a:pPr>
            <a:r>
              <a:rPr sz="1650" b="1">
                <a:solidFill>
                  <a:srgbClr val="13828C"/>
                </a:solidFill>
              </a:rPr>
              <a:t>Private communication is the wedge; communities and transactions expand lifetime value.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E6566D-F020-445B-95E0-A0346F1F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96C"/>
                </a:solidFill>
              </a:defRPr>
            </a:pPr>
            <a:r>
              <a:rPr sz="975" b="1">
                <a:solidFill>
                  <a:srgbClr val="5D696C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933764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D2E019-B2FD-40F1-BED4-936F8E46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828C"/>
                </a:solidFill>
              </a:defRPr>
            </a:pPr>
            <a:r>
              <a:rPr sz="1050" b="1">
                <a:solidFill>
                  <a:srgbClr val="13828C"/>
                </a:solidFill>
              </a:rPr>
              <a:t>VOIID • PRE-SEED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7A6B41-2CBD-4072-A2CD-86ED13A5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617"/>
                </a:solidFill>
              </a:defRPr>
            </a:pPr>
            <a:r>
              <a:rPr sz="3000" b="1">
                <a:solidFill>
                  <a:srgbClr val="101617"/>
                </a:solidFill>
              </a:rPr>
              <a:t>Privacy is the architecture—not a setting.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2B48B-90C6-4487-8BB2-8793E425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2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745A6-56DA-4880-B6DC-A54409CB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667250" cy="3676650"/>
          </a:xfrm>
          <a:prstGeom xmlns:a="http://schemas.openxmlformats.org/drawingml/2006/main" prst="roundRect">
            <a:avLst>
              <a:gd name="adj" fmla="val 7254"/>
            </a:avLst>
          </a:prstGeom>
          <a:solidFill xmlns:a="http://schemas.openxmlformats.org/drawingml/2006/main">
            <a:srgbClr val="1382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A8DC1B-B0CD-414B-A527-FD063E68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33650"/>
            <a:ext cx="3905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THE SERVER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NEVER SEES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PLAINTEXT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296181-538A-4EF4-BD72-76025DA9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EFF0"/>
                </a:solidFill>
              </a:defRPr>
            </a:pPr>
            <a:r>
              <a:rPr sz="1500" b="0">
                <a:solidFill>
                  <a:srgbClr val="D9EFF0"/>
                </a:solidFill>
              </a:rPr>
              <a:t>Private keys stay on-device. Critical dependencies remain swappable.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DFC99D-A09B-4ADA-84EC-8DD4484C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145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617"/>
                </a:solidFill>
              </a:defRPr>
            </a:pPr>
            <a:r>
              <a:rPr sz="1800" b="1">
                <a:solidFill>
                  <a:srgbClr val="101617"/>
                </a:solidFill>
              </a:rPr>
              <a:t>End-to-end encrypted 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707FB9-D20A-4C23-978D-73C8878B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14600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96C"/>
                </a:solidFill>
              </a:defRPr>
            </a:pPr>
            <a:r>
              <a:rPr sz="1350" b="0">
                <a:solidFill>
                  <a:srgbClr val="5D696C"/>
                </a:solidFill>
              </a:rPr>
              <a:t>Messages and sensitive connection data are designed around ciphertext-only infrastructure.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870217-D54B-47B7-9F21-B3EB4E4B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147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617"/>
                </a:solidFill>
              </a:defRPr>
            </a:pPr>
            <a:r>
              <a:rPr sz="1800" b="1">
                <a:solidFill>
                  <a:srgbClr val="101617"/>
                </a:solidFill>
              </a:rPr>
              <a:t>Honest privacy boundaries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2AC76E-A891-4C96-B5DA-C841481B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14750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96C"/>
                </a:solidFill>
              </a:defRPr>
            </a:pPr>
            <a:r>
              <a:rPr sz="1350" b="0">
                <a:solidFill>
                  <a:srgbClr val="5D696C"/>
                </a:solidFill>
              </a:rPr>
              <a:t>Public clips, creator profiles and games are identified as public—not hidden behind vague claims.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21AC21-4FB2-4B7D-AB6F-81701400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148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617"/>
                </a:solidFill>
              </a:defRPr>
            </a:pPr>
            <a:r>
              <a:rPr sz="1800" b="1">
                <a:solidFill>
                  <a:srgbClr val="101617"/>
                </a:solidFill>
              </a:rPr>
              <a:t>Built for resilience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A9949C-3F3D-43D0-BA0A-5C4D34FA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14900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96C"/>
                </a:solidFill>
              </a:defRPr>
            </a:pPr>
            <a:r>
              <a:rPr sz="1350" b="0">
                <a:solidFill>
                  <a:srgbClr val="5D696C"/>
                </a:solidFill>
              </a:rPr>
              <a:t>Plain Postgres and replaceable interfaces reduce platform lock-in.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21DC90-DB30-45DD-B865-8BE283B6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96C"/>
                </a:solidFill>
              </a:defRPr>
            </a:pPr>
            <a:r>
              <a:rPr sz="975" b="1">
                <a:solidFill>
                  <a:srgbClr val="5D696C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267610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D0AA2F-C758-469C-83DB-85D7A82D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828C"/>
                </a:solidFill>
              </a:defRPr>
            </a:pPr>
            <a:r>
              <a:rPr sz="1050" b="1">
                <a:solidFill>
                  <a:srgbClr val="13828C"/>
                </a:solidFill>
              </a:rPr>
              <a:t>VOIID • PRE-SEED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88CFBC-E7AC-43A5-A6BF-F54E3048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617"/>
                </a:solidFill>
              </a:defRPr>
            </a:pPr>
            <a:r>
              <a:rPr sz="3000" b="1">
                <a:solidFill>
                  <a:srgbClr val="101617"/>
                </a:solidFill>
              </a:rPr>
              <a:t>Trusted communication unlocks shared experiences.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A9C9C9-BDAB-4CB2-A55E-4D6B453C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2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2B656A-42C1-4E85-A09C-34114022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400300" cy="3105150"/>
          </a:xfrm>
          <a:prstGeom xmlns:a="http://schemas.openxmlformats.org/drawingml/2006/main" prst="roundRect">
            <a:avLst>
              <a:gd name="adj" fmla="val 87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94C126-043A-4336-995D-C3F3BD5A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828C"/>
                </a:solidFill>
              </a:defRPr>
            </a:pPr>
            <a:r>
              <a:rPr sz="1800" b="1">
                <a:solidFill>
                  <a:srgbClr val="13828C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8FB65C-332B-46BC-9450-649FBDB0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617"/>
                </a:solidFill>
              </a:defRPr>
            </a:pPr>
            <a:r>
              <a:rPr sz="1500" b="1">
                <a:solidFill>
                  <a:srgbClr val="101617"/>
                </a:solidFill>
              </a:rPr>
              <a:t>CONNECT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8A464-ECDA-4D71-8605-360F8F2F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1981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96C"/>
                </a:solidFill>
              </a:defRPr>
            </a:pPr>
            <a:r>
              <a:rPr sz="1500" b="0">
                <a:solidFill>
                  <a:srgbClr val="5D696C"/>
                </a:solidFill>
              </a:rPr>
              <a:t>Encrypted messaging &amp; calls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A65165-0BBE-4AE0-9378-FABD851D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76800"/>
            <a:ext cx="1981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2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D70BB9-3957-47F3-BAAB-D6012491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66950"/>
            <a:ext cx="2400300" cy="3105150"/>
          </a:xfrm>
          <a:prstGeom xmlns:a="http://schemas.openxmlformats.org/drawingml/2006/main" prst="roundRect">
            <a:avLst>
              <a:gd name="adj" fmla="val 87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6B4A01-300E-4C0C-B6E8-C1E05B3D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E22CE"/>
                </a:solidFill>
              </a:defRPr>
            </a:pPr>
            <a:r>
              <a:rPr sz="1800" b="1">
                <a:solidFill>
                  <a:srgbClr val="7E22CE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627635-D085-49C6-B25B-5AD0A138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432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617"/>
                </a:solidFill>
              </a:defRPr>
            </a:pPr>
            <a:r>
              <a:rPr sz="1500" b="1">
                <a:solidFill>
                  <a:srgbClr val="101617"/>
                </a:solidFill>
              </a:rPr>
              <a:t>ENGAGE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BD09EF-6269-438D-B88A-98B4CA9B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38550"/>
            <a:ext cx="1981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96C"/>
                </a:solidFill>
              </a:defRPr>
            </a:pPr>
            <a:r>
              <a:rPr sz="1500" b="0">
                <a:solidFill>
                  <a:srgbClr val="5D696C"/>
                </a:solidFill>
              </a:rPr>
              <a:t>Moments, clips &amp; games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AD0384-7853-4453-98E6-BAC90AFD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876800"/>
            <a:ext cx="1981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E2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ADCE04-93C8-4404-BBEE-FFF47FFA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2400300" cy="3105150"/>
          </a:xfrm>
          <a:prstGeom xmlns:a="http://schemas.openxmlformats.org/drawingml/2006/main" prst="roundRect">
            <a:avLst>
              <a:gd name="adj" fmla="val 87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4B5C7C-CCDC-417F-931F-066AB8F9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765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</a:defRPr>
            </a:pPr>
            <a:r>
              <a:rPr sz="1800" b="1">
                <a:solidFill>
                  <a:srgbClr val="1D4ED8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78AB87-29F0-43D2-BC56-2AEC273C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432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617"/>
                </a:solidFill>
              </a:defRPr>
            </a:pPr>
            <a:r>
              <a:rPr sz="1500" b="1">
                <a:solidFill>
                  <a:srgbClr val="101617"/>
                </a:solidFill>
              </a:rPr>
              <a:t>BELONG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B44740-DCC4-4F8E-9AEB-78E58E7A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38550"/>
            <a:ext cx="1981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96C"/>
                </a:solidFill>
              </a:defRPr>
            </a:pPr>
            <a:r>
              <a:rPr sz="1500" b="0">
                <a:solidFill>
                  <a:srgbClr val="5D696C"/>
                </a:solidFill>
              </a:rPr>
              <a:t>Communities &amp; events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6DFD8D-B240-4DE7-B84C-6B3ECD44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76800"/>
            <a:ext cx="1981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DA7E7B-EE57-4687-8BE3-E006A888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66950"/>
            <a:ext cx="2400300" cy="3105150"/>
          </a:xfrm>
          <a:prstGeom xmlns:a="http://schemas.openxmlformats.org/drawingml/2006/main" prst="roundRect">
            <a:avLst>
              <a:gd name="adj" fmla="val 87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83D0D5-31E0-4717-99C8-BE0236DE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765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16207"/>
                </a:solidFill>
              </a:defRPr>
            </a:pPr>
            <a:r>
              <a:rPr sz="1800" b="1">
                <a:solidFill>
                  <a:srgbClr val="A16207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D0C49C-13D7-469A-AA3B-BD9A0BF2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432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617"/>
                </a:solidFill>
              </a:defRPr>
            </a:pPr>
            <a:r>
              <a:rPr sz="1500" b="1">
                <a:solidFill>
                  <a:srgbClr val="101617"/>
                </a:solidFill>
              </a:rPr>
              <a:t>MONETISE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624264-0A9E-431A-8E7D-08017467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38550"/>
            <a:ext cx="1981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96C"/>
                </a:solidFill>
              </a:defRPr>
            </a:pPr>
            <a:r>
              <a:rPr sz="1500" b="0">
                <a:solidFill>
                  <a:srgbClr val="5D696C"/>
                </a:solidFill>
              </a:rPr>
              <a:t>Tickets and creator commerce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DB41A9-AD50-4EE1-8DAF-B41D7601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876800"/>
            <a:ext cx="1981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162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2C1A2D-F4C8-4D09-AC67-A7EBA0F0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828C"/>
                </a:solidFill>
              </a:defRPr>
            </a:pPr>
            <a:r>
              <a:rPr sz="1725" b="1">
                <a:solidFill>
                  <a:srgbClr val="13828C"/>
                </a:solidFill>
              </a:rPr>
              <a:t>The same trusted identity compounds across every surface.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F66F5F-C3CC-459C-9FBF-ADD131BE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96C"/>
                </a:solidFill>
              </a:defRPr>
            </a:pPr>
            <a:r>
              <a:rPr sz="975" b="1">
                <a:solidFill>
                  <a:srgbClr val="5D696C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911855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F33A34-97AC-4B8B-9A74-47B31F4E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828C"/>
                </a:solidFill>
              </a:defRPr>
            </a:pPr>
            <a:r>
              <a:rPr sz="1050" b="1">
                <a:solidFill>
                  <a:srgbClr val="13828C"/>
                </a:solidFill>
              </a:rPr>
              <a:t>VOIID • PRE-SEED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F6A06-1BC9-48E9-ACAF-4936D081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617"/>
                </a:solidFill>
              </a:defRPr>
            </a:pPr>
            <a:r>
              <a:rPr sz="3000" b="1">
                <a:solidFill>
                  <a:srgbClr val="101617"/>
                </a:solidFill>
              </a:rPr>
              <a:t>India is the launchpad; the need is global.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E09EC-B592-4860-88F3-8B94E7F9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2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951D2D-CA59-4DC0-8EF0-04C572D1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28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96C"/>
                </a:solidFill>
              </a:defRPr>
            </a:pPr>
            <a:r>
              <a:rPr sz="1875" b="0">
                <a:solidFill>
                  <a:srgbClr val="5D696C"/>
                </a:solidFill>
              </a:rPr>
              <a:t>Voiid targets a universal tension: people want richer digital connection without surrendering control of their private lives.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D99EB7-59B9-434D-A4FA-52627AF1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3295650" cy="2038350"/>
          </a:xfrm>
          <a:prstGeom xmlns:a="http://schemas.openxmlformats.org/drawingml/2006/main" prst="roundRect">
            <a:avLst>
              <a:gd name="adj" fmla="val 112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A5CF4E-8B84-402D-A0CA-F39AD36A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828C"/>
                </a:solidFill>
              </a:defRPr>
            </a:pPr>
            <a:r>
              <a:rPr sz="1350" b="1">
                <a:solidFill>
                  <a:srgbClr val="13828C"/>
                </a:solidFill>
              </a:rPr>
              <a:t>MOBILE-FIRST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7FA2C4-3D69-4D1F-A8E7-329299EA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283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617"/>
                </a:solidFill>
              </a:defRPr>
            </a:pPr>
            <a:r>
              <a:rPr sz="1650" b="1">
                <a:solidFill>
                  <a:srgbClr val="101617"/>
                </a:solidFill>
              </a:rPr>
              <a:t>Designed around the phone as the primary social layer.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B6D4F9-0F41-4628-B0DF-0A3F0FEE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52800"/>
            <a:ext cx="3295650" cy="2038350"/>
          </a:xfrm>
          <a:prstGeom xmlns:a="http://schemas.openxmlformats.org/drawingml/2006/main" prst="roundRect">
            <a:avLst>
              <a:gd name="adj" fmla="val 11215"/>
            </a:avLst>
          </a:prstGeom>
          <a:solidFill xmlns:a="http://schemas.openxmlformats.org/drawingml/2006/main">
            <a:srgbClr val="13828C"/>
          </a:solidFill>
          <a:ln xmlns:a="http://schemas.openxmlformats.org/drawingml/2006/main" w="9525">
            <a:solidFill>
              <a:srgbClr val="13828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11599B-AB69-4B91-941D-2EFC3E37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3855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EFF0"/>
                </a:solidFill>
              </a:defRPr>
            </a:pPr>
            <a:r>
              <a:rPr sz="1350" b="1">
                <a:solidFill>
                  <a:srgbClr val="D9EFF0"/>
                </a:solidFill>
              </a:rPr>
              <a:t>INDIA-BUILT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350BDB-3497-4DB6-8F5A-11F58622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14800"/>
            <a:ext cx="283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Local product intuition with global product ambition.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F8F106-ED84-43DF-984E-5E626BA0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52800"/>
            <a:ext cx="3295650" cy="2038350"/>
          </a:xfrm>
          <a:prstGeom xmlns:a="http://schemas.openxmlformats.org/drawingml/2006/main" prst="roundRect">
            <a:avLst>
              <a:gd name="adj" fmla="val 112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EF71E3-AC7A-4996-AA69-72BE2F0F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3855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828C"/>
                </a:solidFill>
              </a:defRPr>
            </a:pPr>
            <a:r>
              <a:rPr sz="1350" b="1">
                <a:solidFill>
                  <a:srgbClr val="13828C"/>
                </a:solidFill>
              </a:rPr>
              <a:t>GENERATIONAL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26A084-2190-4DAC-8C9B-702B2680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14800"/>
            <a:ext cx="283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617"/>
                </a:solidFill>
              </a:defRPr>
            </a:pPr>
            <a:r>
              <a:rPr sz="1650" b="1">
                <a:solidFill>
                  <a:srgbClr val="101617"/>
                </a:solidFill>
              </a:rPr>
              <a:t>Privacy expectations are rising as social behaviour keeps expanding.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E33C08-A027-48BF-A5C6-B966912E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96C"/>
                </a:solidFill>
              </a:defRPr>
            </a:pPr>
            <a:r>
              <a:rPr sz="975" b="1">
                <a:solidFill>
                  <a:srgbClr val="5D696C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312713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207170-47D0-450A-9F82-0714E8B9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828C"/>
                </a:solidFill>
              </a:defRPr>
            </a:pPr>
            <a:r>
              <a:rPr sz="1050" b="1">
                <a:solidFill>
                  <a:srgbClr val="13828C"/>
                </a:solidFill>
              </a:rPr>
              <a:t>VOIID • PRE-SEED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D621B-2D50-47BD-8ED0-36C4BEE8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617"/>
                </a:solidFill>
              </a:defRPr>
            </a:pPr>
            <a:r>
              <a:rPr sz="3000" b="1">
                <a:solidFill>
                  <a:srgbClr val="101617"/>
                </a:solidFill>
              </a:rPr>
              <a:t>A massive audience already lives across fragmented platforms.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B259CB-52C0-472A-93E2-F7AEEBE9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2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8FFCF7-65FA-4862-95FE-D428CFFF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2956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29464F-947F-494C-8353-AF545A8F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2838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3828C"/>
                </a:solidFill>
              </a:defRPr>
            </a:pPr>
            <a:r>
              <a:rPr sz="3375" b="1">
                <a:solidFill>
                  <a:srgbClr val="13828C"/>
                </a:solidFill>
              </a:rPr>
              <a:t>969M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D7AE88-FF21-4634-A431-64C081F7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2838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617"/>
                </a:solidFill>
              </a:defRPr>
            </a:pPr>
            <a:r>
              <a:rPr sz="1500" b="1">
                <a:solidFill>
                  <a:srgbClr val="101617"/>
                </a:solidFill>
              </a:rPr>
              <a:t>Internet subscriptions in India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ABEF1C-E859-4696-94E1-349862E4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96C"/>
                </a:solidFill>
              </a:defRPr>
            </a:pPr>
            <a:r>
              <a:rPr sz="1050" b="1">
                <a:solidFill>
                  <a:srgbClr val="5D696C"/>
                </a:solidFill>
              </a:rPr>
              <a:t>TRAI • Mar 2025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CE2997-161B-43B1-8BE9-1B5944D0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32956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3828C"/>
          </a:solidFill>
          <a:ln xmlns:a="http://schemas.openxmlformats.org/drawingml/2006/main" w="9525">
            <a:solidFill>
              <a:srgbClr val="13828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58528E-8658-4F4B-A764-BBB1EA4B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38400"/>
            <a:ext cx="2838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</a:defRPr>
            </a:pPr>
            <a:r>
              <a:rPr sz="3375" b="1">
                <a:solidFill>
                  <a:srgbClr val="FFFFFF"/>
                </a:solidFill>
              </a:rPr>
              <a:t>491M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37ADA1-C1FB-4710-BF13-00FE707A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62300"/>
            <a:ext cx="2838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Indian social-media identities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2B2315-8408-47A7-8A9B-6C3C68E6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29050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EFF0"/>
                </a:solidFill>
              </a:defRPr>
            </a:pPr>
            <a:r>
              <a:rPr sz="1050" b="1">
                <a:solidFill>
                  <a:srgbClr val="D9EFF0"/>
                </a:solidFill>
              </a:rPr>
              <a:t>DataReportal • Jan 2025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3C4704-C3F0-45F7-AB34-DBA39870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52650"/>
            <a:ext cx="32956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2C336E-BD65-4966-B968-769FA4CB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38400"/>
            <a:ext cx="2838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3828C"/>
                </a:solidFill>
              </a:defRPr>
            </a:pPr>
            <a:r>
              <a:rPr sz="3375" b="1">
                <a:solidFill>
                  <a:srgbClr val="13828C"/>
                </a:solidFill>
              </a:rPr>
              <a:t>5.66B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519930-1FA6-47DA-8A1E-05708D10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62300"/>
            <a:ext cx="2838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617"/>
                </a:solidFill>
              </a:defRPr>
            </a:pPr>
            <a:r>
              <a:rPr sz="1500" b="1">
                <a:solidFill>
                  <a:srgbClr val="101617"/>
                </a:solidFill>
              </a:rPr>
              <a:t>Global social-media identities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1E5867-63F2-43E0-A7AF-948AF6F7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29050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96C"/>
                </a:solidFill>
              </a:defRPr>
            </a:pPr>
            <a:r>
              <a:rPr sz="1050" b="1">
                <a:solidFill>
                  <a:srgbClr val="5D696C"/>
                </a:solidFill>
              </a:rPr>
              <a:t>DataReportal •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118E9A-027B-4457-99A6-A943EDD4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8204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9EF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D4FB07-086E-4D91-95F3-9DAAE873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828C"/>
                </a:solidFill>
              </a:defRPr>
            </a:pPr>
            <a:r>
              <a:rPr sz="1200" b="1">
                <a:solidFill>
                  <a:srgbClr val="13828C"/>
                </a:solidFill>
              </a:rPr>
              <a:t>CREATOR COMMERCE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A29D23-C626-48AF-B1A7-937295A5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577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617"/>
                </a:solidFill>
              </a:defRPr>
            </a:pPr>
            <a:r>
              <a:rPr sz="1725" b="1">
                <a:solidFill>
                  <a:srgbClr val="101617"/>
                </a:solidFill>
              </a:rPr>
              <a:t>2–2.5M active Indian creators influence $350B+ in annual consumer spending.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3E5142-221E-4E28-B4FD-915B46EB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828C"/>
                </a:solidFill>
              </a:defRPr>
            </a:pPr>
            <a:r>
              <a:rPr sz="1575" b="1">
                <a:solidFill>
                  <a:srgbClr val="13828C"/>
                </a:solidFill>
              </a:rPr>
              <a:t>Voiid enters through trusted communication, then monetises community activity.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4A20E9-4A85-4119-A62B-D673D2DB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96C"/>
                </a:solidFill>
              </a:defRPr>
            </a:pPr>
            <a:r>
              <a:rPr sz="975" b="1">
                <a:solidFill>
                  <a:srgbClr val="5D696C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521148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90787A-E89C-48AF-B54C-6F565C7A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828C"/>
                </a:solidFill>
              </a:defRPr>
            </a:pPr>
            <a:r>
              <a:rPr sz="1050" b="1">
                <a:solidFill>
                  <a:srgbClr val="13828C"/>
                </a:solidFill>
              </a:rPr>
              <a:t>VOIID • PRE-SEED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814CCF-4054-445B-8048-61F82E7D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617"/>
                </a:solidFill>
              </a:defRPr>
            </a:pPr>
            <a:r>
              <a:rPr sz="3000" b="1">
                <a:solidFill>
                  <a:srgbClr val="101617"/>
                </a:solidFill>
              </a:rPr>
              <a:t>Monetisation grows with community activity.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BC1CA1-2712-4BF1-9D6E-6A6C588D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2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5E10BF-4F66-45FC-A01D-CF142A17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85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96C"/>
                </a:solidFill>
              </a:defRPr>
            </a:pPr>
            <a:r>
              <a:rPr sz="1875" b="0">
                <a:solidFill>
                  <a:srgbClr val="5D696C"/>
                </a:solidFill>
              </a:rPr>
              <a:t>Voiid can earn when hosts and creators earn—without putting core private communication behind a paywall.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91B5B3-6635-4000-B2A2-680976BB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108204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BF53AA-9DCE-4F91-ADD3-CB6095ED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99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828C"/>
                </a:solidFill>
              </a:defRPr>
            </a:pPr>
            <a:r>
              <a:rPr sz="1350" b="1">
                <a:solidFill>
                  <a:srgbClr val="13828C"/>
                </a:solidFill>
              </a:rPr>
              <a:t>PAID EVENTS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5EDEAA-B3FA-4294-BD28-D9ADA22C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813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617"/>
                </a:solidFill>
              </a:defRPr>
            </a:pPr>
            <a:r>
              <a:rPr sz="1575" b="0">
                <a:solidFill>
                  <a:srgbClr val="101617"/>
                </a:solidFill>
              </a:rPr>
              <a:t>Commission on tickets and passes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8DF505-D7B9-449A-96AD-1BFF7A1A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099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A16207"/>
                </a:solidFill>
              </a:defRPr>
            </a:pPr>
            <a:r>
              <a:rPr sz="1275" b="1">
                <a:solidFill>
                  <a:srgbClr val="A16207"/>
                </a:solidFill>
              </a:rPr>
              <a:t>Near-term wedge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40930F-A437-464D-9629-EA0C4BD4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08204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EDF1F1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BC3BC7-F5DF-4155-AACC-69F0DC39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862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828C"/>
                </a:solidFill>
              </a:defRPr>
            </a:pPr>
            <a:r>
              <a:rPr sz="1350" b="1">
                <a:solidFill>
                  <a:srgbClr val="13828C"/>
                </a:solidFill>
              </a:rPr>
              <a:t>COMMUNITY COMMERCE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FF0299-A68A-4618-B3CF-7565688D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0576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617"/>
                </a:solidFill>
              </a:defRPr>
            </a:pPr>
            <a:r>
              <a:rPr sz="1575" b="0">
                <a:solidFill>
                  <a:srgbClr val="101617"/>
                </a:solidFill>
              </a:rPr>
              <a:t>Transaction fee on products and experiences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70506E-0FE7-45F8-8073-DC717DDA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862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D696C"/>
                </a:solidFill>
              </a:defRPr>
            </a:pPr>
            <a:r>
              <a:rPr sz="1275" b="1">
                <a:solidFill>
                  <a:srgbClr val="5D696C"/>
                </a:solidFill>
              </a:rPr>
              <a:t>Expansion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9784B3-B92A-4086-A736-A8EFF33C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08204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EDF1F1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F29449-95B1-43FB-BBBB-6AA17E1E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625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828C"/>
                </a:solidFill>
              </a:defRPr>
            </a:pPr>
            <a:r>
              <a:rPr sz="1350" b="1">
                <a:solidFill>
                  <a:srgbClr val="13828C"/>
                </a:solidFill>
              </a:rPr>
              <a:t>CREATOR ECONOMY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00C5B0-15AD-4EE0-A81E-67C9D6D5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339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617"/>
                </a:solidFill>
              </a:defRPr>
            </a:pPr>
            <a:r>
              <a:rPr sz="1575" b="0">
                <a:solidFill>
                  <a:srgbClr val="101617"/>
                </a:solidFill>
              </a:rPr>
              <a:t>Tips, subscriptions and services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416BD4-14FF-4926-988F-B6271329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625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D696C"/>
                </a:solidFill>
              </a:defRPr>
            </a:pPr>
            <a:r>
              <a:rPr sz="1275" b="1">
                <a:solidFill>
                  <a:srgbClr val="5D696C"/>
                </a:solidFill>
              </a:rPr>
              <a:t>Longer-term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EBFBF7-E4D2-45EA-A5B9-5D41C846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96C"/>
                </a:solidFill>
              </a:defRPr>
            </a:pPr>
            <a:r>
              <a:rPr sz="975" b="1">
                <a:solidFill>
                  <a:srgbClr val="5D696C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856387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B2D3EA-2032-4298-A0D2-75ADA44B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828C"/>
                </a:solidFill>
              </a:defRPr>
            </a:pPr>
            <a:r>
              <a:rPr sz="1050" b="1">
                <a:solidFill>
                  <a:srgbClr val="13828C"/>
                </a:solidFill>
              </a:rPr>
              <a:t>VOIID • PRE-SEED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615D61-FC71-4DF7-8E2F-A8C51BAF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617"/>
                </a:solidFill>
              </a:defRPr>
            </a:pPr>
            <a:r>
              <a:rPr sz="3000" b="1">
                <a:solidFill>
                  <a:srgbClr val="101617"/>
                </a:solidFill>
              </a:rPr>
              <a:t>The advantage is an integrated, private social stack.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FF5979-D128-4E29-B402-96322E07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2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466BFB-AE13-4805-A315-1CA93722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96C"/>
                </a:solidFill>
              </a:defRPr>
            </a:pPr>
            <a:r>
              <a:rPr sz="1050" b="1">
                <a:solidFill>
                  <a:srgbClr val="5D696C"/>
                </a:solidFill>
              </a:rPr>
              <a:t>CATEGORY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F29E10-A36B-49F9-80AC-A069B2A6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145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96C"/>
                </a:solidFill>
              </a:defRPr>
            </a:pPr>
            <a:r>
              <a:rPr sz="1050" b="1">
                <a:solidFill>
                  <a:srgbClr val="5D696C"/>
                </a:solidFill>
              </a:rPr>
              <a:t>PRIVATE CORE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C6E808-4AF8-4EB2-99DC-3CC9613E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1145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96C"/>
                </a:solidFill>
              </a:defRPr>
            </a:pPr>
            <a:r>
              <a:rPr sz="1050" b="1">
                <a:solidFill>
                  <a:srgbClr val="5D696C"/>
                </a:solidFill>
              </a:rPr>
              <a:t>CONTENT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48AFC7-CB10-4962-AEB2-0E848274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1145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96C"/>
                </a:solidFill>
              </a:defRPr>
            </a:pPr>
            <a:r>
              <a:rPr sz="1050" b="1">
                <a:solidFill>
                  <a:srgbClr val="5D696C"/>
                </a:solidFill>
              </a:rPr>
              <a:t>COMMUNITY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0A5C84-C7B7-4E98-85D2-79999DF7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96C"/>
                </a:solidFill>
              </a:defRPr>
            </a:pPr>
            <a:r>
              <a:rPr sz="1050" b="1">
                <a:solidFill>
                  <a:srgbClr val="5D696C"/>
                </a:solidFill>
              </a:rPr>
              <a:t>COMMERCE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1F16B1-500D-4CB3-A449-0E0A5367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8204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EC1856-ECF5-4666-AE9C-8E407C72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617"/>
                </a:solidFill>
              </a:defRPr>
            </a:pPr>
            <a:r>
              <a:rPr sz="1275" b="1">
                <a:solidFill>
                  <a:srgbClr val="101617"/>
                </a:solidFill>
              </a:rPr>
              <a:t>Messaging apps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995F27-D955-4453-8C5B-59D01628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4320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96C"/>
                </a:solidFill>
              </a:defRPr>
            </a:pPr>
            <a:r>
              <a:rPr sz="1275" b="0">
                <a:solidFill>
                  <a:srgbClr val="5D696C"/>
                </a:solidFill>
              </a:rPr>
              <a:t>Strong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DFBD5B-4BD6-4509-A771-D40681CD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4320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96C"/>
                </a:solidFill>
              </a:defRPr>
            </a:pPr>
            <a:r>
              <a:rPr sz="1275" b="0">
                <a:solidFill>
                  <a:srgbClr val="5D696C"/>
                </a:solidFill>
              </a:rPr>
              <a:t>Limited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57D09E-3553-4A41-8963-7F8723EF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96C"/>
                </a:solidFill>
              </a:defRPr>
            </a:pPr>
            <a:r>
              <a:rPr sz="1275" b="0">
                <a:solidFill>
                  <a:srgbClr val="5D696C"/>
                </a:solidFill>
              </a:rPr>
              <a:t>Groups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74D640-F60E-4B14-AB35-B7C3DE50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4320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96C"/>
                </a:solidFill>
              </a:defRPr>
            </a:pPr>
            <a:r>
              <a:rPr sz="1275" b="0">
                <a:solidFill>
                  <a:srgbClr val="5D696C"/>
                </a:solidFill>
              </a:rPr>
              <a:t>Limited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F84CE3-9715-4D60-9A48-D1035B5C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08204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DF1F1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B1C348-33B0-4DF5-8528-EBA73F2C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617"/>
                </a:solidFill>
              </a:defRPr>
            </a:pPr>
            <a:r>
              <a:rPr sz="1275" b="1">
                <a:solidFill>
                  <a:srgbClr val="101617"/>
                </a:solidFill>
              </a:rPr>
              <a:t>Social networks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764E64-4848-4B5F-9330-A0354F29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6710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96C"/>
                </a:solidFill>
              </a:defRPr>
            </a:pPr>
            <a:r>
              <a:rPr sz="1275" b="0">
                <a:solidFill>
                  <a:srgbClr val="5D696C"/>
                </a:solidFill>
              </a:rPr>
              <a:t>Weak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FC6919-A9DA-4328-8CB1-A80C99F2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6710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96C"/>
                </a:solidFill>
              </a:defRPr>
            </a:pPr>
            <a:r>
              <a:rPr sz="1275" b="0">
                <a:solidFill>
                  <a:srgbClr val="5D696C"/>
                </a:solidFill>
              </a:rPr>
              <a:t>Strong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F1DCAB-573F-4318-B89E-82D45DF3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6710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96C"/>
                </a:solidFill>
              </a:defRPr>
            </a:pPr>
            <a:r>
              <a:rPr sz="1275" b="0">
                <a:solidFill>
                  <a:srgbClr val="5D696C"/>
                </a:solidFill>
              </a:rPr>
              <a:t>Followers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E4FEE8-8B60-4259-8996-E380DAD5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6710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96C"/>
                </a:solidFill>
              </a:defRPr>
            </a:pPr>
            <a:r>
              <a:rPr sz="1275" b="0">
                <a:solidFill>
                  <a:srgbClr val="5D696C"/>
                </a:solidFill>
              </a:rPr>
              <a:t>Ads / shops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986F3D-9E5B-4DCB-A40E-CC58E0E2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8204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03369A-44A2-4224-9097-D0C653AB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617"/>
                </a:solidFill>
              </a:defRPr>
            </a:pPr>
            <a:r>
              <a:rPr sz="1275" b="1">
                <a:solidFill>
                  <a:srgbClr val="101617"/>
                </a:solidFill>
              </a:rPr>
              <a:t>Community tools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5A0661-740D-488B-95E5-25D37C75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19100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96C"/>
                </a:solidFill>
              </a:defRPr>
            </a:pPr>
            <a:r>
              <a:rPr sz="1275" b="0">
                <a:solidFill>
                  <a:srgbClr val="5D696C"/>
                </a:solidFill>
              </a:rPr>
              <a:t>Mixed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C65148-1296-4085-8D18-AD6DF0AA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19100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96C"/>
                </a:solidFill>
              </a:defRPr>
            </a:pPr>
            <a:r>
              <a:rPr sz="1275" b="0">
                <a:solidFill>
                  <a:srgbClr val="5D696C"/>
                </a:solidFill>
              </a:rPr>
              <a:t>Limited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316596-07FF-408B-BAD0-0070E65F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9100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96C"/>
                </a:solidFill>
              </a:defRPr>
            </a:pPr>
            <a:r>
              <a:rPr sz="1275" b="0">
                <a:solidFill>
                  <a:srgbClr val="5D696C"/>
                </a:solidFill>
              </a:rPr>
              <a:t>Strong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29D3B6-8924-4DEF-BB25-CB761C1E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19100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96C"/>
                </a:solidFill>
              </a:defRPr>
            </a:pPr>
            <a:r>
              <a:rPr sz="1275" b="0">
                <a:solidFill>
                  <a:srgbClr val="5D696C"/>
                </a:solidFill>
              </a:rPr>
              <a:t>Subscriptions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F10560-8B32-4760-B93E-72004966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08204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3828C"/>
          </a:solidFill>
          <a:ln xmlns:a="http://schemas.openxmlformats.org/drawingml/2006/main" w="9525">
            <a:solidFill>
              <a:srgbClr val="13828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C73B47-0814-4D91-B75D-57164C22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VOIID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707B7F-E5C2-479C-B263-E2FFB4A8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91490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Strong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0417FF-A9C8-424D-BA3D-56108669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1490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Strong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1026C4-D24F-4B46-B495-5188C6B1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Strong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B43328-B3BA-40F7-871C-CEF2E823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91490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Events → commerce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F7F0FD-E421-4BBE-A51B-E370A42C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828C"/>
                </a:solidFill>
              </a:defRPr>
            </a:pPr>
            <a:r>
              <a:rPr sz="1650" b="1">
                <a:solidFill>
                  <a:srgbClr val="13828C"/>
                </a:solidFill>
              </a:rPr>
              <a:t>A shared identity, graph and privacy architecture compound across every surface.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742862-AB6D-4595-8FD4-02BDA9AE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96C"/>
                </a:solidFill>
              </a:defRPr>
            </a:pPr>
            <a:r>
              <a:rPr sz="975" b="1">
                <a:solidFill>
                  <a:srgbClr val="5D696C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630862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283EC6-BA25-472B-B83F-765F2D55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828C"/>
                </a:solidFill>
              </a:defRPr>
            </a:pPr>
            <a:r>
              <a:rPr sz="1050" b="1">
                <a:solidFill>
                  <a:srgbClr val="13828C"/>
                </a:solidFill>
              </a:rPr>
              <a:t>VOIID • PRE-SEED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49BA4F-222D-4A25-BD2E-94A5BC06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617"/>
                </a:solidFill>
              </a:defRPr>
            </a:pPr>
            <a:r>
              <a:rPr sz="3000" b="1">
                <a:solidFill>
                  <a:srgbClr val="101617"/>
                </a:solidFill>
              </a:rPr>
              <a:t>The product is in pilot; the learning loop is active.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21DAA4-D1D9-4587-8D2D-3E32FE3B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2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75973B-9D7B-43CD-BD2C-AE94093A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295650" cy="278130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13828C"/>
          </a:solidFill>
          <a:ln xmlns:a="http://schemas.openxmlformats.org/drawingml/2006/main" w="9525">
            <a:solidFill>
              <a:srgbClr val="13828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A2D21E-025F-4E2E-B222-27DA6C16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5270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EFF0"/>
                </a:solidFill>
              </a:defRPr>
            </a:pPr>
            <a:r>
              <a:rPr sz="1200" b="1">
                <a:solidFill>
                  <a:srgbClr val="D9EFF0"/>
                </a:solidFill>
              </a:rPr>
              <a:t>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CD71A0-579C-47B0-8A26-BD1B4AD6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2895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Pilot testing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92FF7-8C9A-47C8-A5D2-A2C5385C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2724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FF0"/>
                </a:solidFill>
              </a:defRPr>
            </a:pPr>
            <a:r>
              <a:rPr sz="1425" b="0">
                <a:solidFill>
                  <a:srgbClr val="D9EFF0"/>
                </a:solidFill>
              </a:rPr>
              <a:t>Validate reliability, privacy flows and core engagement.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95DA6F-2B87-4AB1-960B-50173A1A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3295650" cy="278130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72A819-5453-41A1-9F4D-76A3EAF3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5270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16207"/>
                </a:solidFill>
              </a:defRPr>
            </a:pPr>
            <a:r>
              <a:rPr sz="1200" b="1">
                <a:solidFill>
                  <a:srgbClr val="A16207"/>
                </a:solidFill>
              </a:rPr>
              <a:t>NEXT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7F78C6-0AC6-481C-9D7C-5F34F08D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2895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617"/>
                </a:solidFill>
              </a:defRPr>
            </a:pPr>
            <a:r>
              <a:rPr sz="2025" b="1">
                <a:solidFill>
                  <a:srgbClr val="101617"/>
                </a:solidFill>
              </a:rPr>
              <a:t>Waitlist launch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E75C72-E008-4E68-954B-2ACA4A6A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95700"/>
            <a:ext cx="2724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96C"/>
                </a:solidFill>
              </a:defRPr>
            </a:pPr>
            <a:r>
              <a:rPr sz="1425" b="0">
                <a:solidFill>
                  <a:srgbClr val="5D696C"/>
                </a:solidFill>
              </a:rPr>
              <a:t>Build an owned audience and measure intent by cohort.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1FC70D-A19B-4155-8082-433B0076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66950"/>
            <a:ext cx="3295650" cy="278130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75CBB9-0A85-4B1B-A7F6-D1D58720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5270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16207"/>
                </a:solidFill>
              </a:defRPr>
            </a:pPr>
            <a:r>
              <a:rPr sz="1200" b="1">
                <a:solidFill>
                  <a:srgbClr val="A16207"/>
                </a:solidFill>
              </a:rPr>
              <a:t>THEN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E12A5-39B3-42F3-8AD1-1E04D380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2895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617"/>
                </a:solidFill>
              </a:defRPr>
            </a:pPr>
            <a:r>
              <a:rPr sz="2025" b="1">
                <a:solidFill>
                  <a:srgbClr val="101617"/>
                </a:solidFill>
              </a:rPr>
              <a:t>Focused rollout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472BA3-44D4-42C0-872B-2DC3E26D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95700"/>
            <a:ext cx="2724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96C"/>
                </a:solidFill>
              </a:defRPr>
            </a:pPr>
            <a:r>
              <a:rPr sz="1425" b="0">
                <a:solidFill>
                  <a:srgbClr val="5D696C"/>
                </a:solidFill>
              </a:rPr>
              <a:t>Convert early communities into repeat usage and referrals.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F8FA5D-7CC3-457F-B8A5-05F19F11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828C"/>
                </a:solidFill>
              </a:defRPr>
            </a:pPr>
            <a:r>
              <a:rPr sz="1725" b="1">
                <a:solidFill>
                  <a:srgbClr val="13828C"/>
                </a:solidFill>
              </a:rPr>
              <a:t>Next investor update: waitlist conversion, activation, retention and referral.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C6F13D-B29E-4FF5-AEC9-7E6AFF9D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96C"/>
                </a:solidFill>
              </a:defRPr>
            </a:pPr>
            <a:r>
              <a:rPr sz="975" b="1">
                <a:solidFill>
                  <a:srgbClr val="5D696C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670130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8BEC96-A25B-4DE1-A100-B9D18F43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828C"/>
                </a:solidFill>
              </a:defRPr>
            </a:pPr>
            <a:r>
              <a:rPr sz="1050" b="1">
                <a:solidFill>
                  <a:srgbClr val="13828C"/>
                </a:solidFill>
              </a:rPr>
              <a:t>VOIID • PRE-SEED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EB7C13-E183-402D-8EE8-8A1C31F8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617"/>
                </a:solidFill>
              </a:defRPr>
            </a:pPr>
            <a:r>
              <a:rPr sz="3000" b="1">
                <a:solidFill>
                  <a:srgbClr val="101617"/>
                </a:solidFill>
              </a:rPr>
              <a:t>Go to market through dense communities, not broad downloads.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5C218A-8186-4FF0-9796-7DB647BC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2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16AE48-8096-4BAB-8B50-F24A8179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400300" cy="29718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3828C"/>
          </a:solidFill>
          <a:ln xmlns:a="http://schemas.openxmlformats.org/drawingml/2006/main" w="9525">
            <a:solidFill>
              <a:srgbClr val="13828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874FCC-E5FE-43B0-AF45-B76DA700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063B4-3CF4-4D10-A1FA-2F780627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8610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SEED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18B194-459A-4664-8189-1605B405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0450"/>
            <a:ext cx="1981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FF0"/>
                </a:solidFill>
              </a:defRPr>
            </a:pPr>
            <a:r>
              <a:rPr sz="1350" b="0">
                <a:solidFill>
                  <a:srgbClr val="D9EFF0"/>
                </a:solidFill>
              </a:rPr>
              <a:t>Recruit pilot communities with an existing reason to interact.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4C01EF-8693-40FE-B85D-18A671F0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66950"/>
            <a:ext cx="2400300" cy="29718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58300C-A275-4295-919D-6A45904E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955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828C"/>
                </a:solidFill>
              </a:defRPr>
            </a:pPr>
            <a:r>
              <a:rPr sz="1650" b="1">
                <a:solidFill>
                  <a:srgbClr val="13828C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7806DD-6373-4D70-987D-DC5FD441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8610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617"/>
                </a:solidFill>
              </a:defRPr>
            </a:pPr>
            <a:r>
              <a:rPr sz="1350" b="1">
                <a:solidFill>
                  <a:srgbClr val="101617"/>
                </a:solidFill>
              </a:rPr>
              <a:t>ACTIVATE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57E63A-C87C-42F2-B984-20D6B14E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00450"/>
            <a:ext cx="1981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96C"/>
                </a:solidFill>
              </a:defRPr>
            </a:pPr>
            <a:r>
              <a:rPr sz="1350" b="0">
                <a:solidFill>
                  <a:srgbClr val="5D696C"/>
                </a:solidFill>
              </a:rPr>
              <a:t>Win week one through chat, calls, games and shared moments.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44772D-C321-4BD2-9588-81ACE4A7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2400300" cy="29718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AB9E50-9A43-4B56-8727-0B3DB043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955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828C"/>
                </a:solidFill>
              </a:defRPr>
            </a:pPr>
            <a:r>
              <a:rPr sz="1650" b="1">
                <a:solidFill>
                  <a:srgbClr val="13828C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891F64-4667-46A9-9400-D8F85BA0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8610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617"/>
                </a:solidFill>
              </a:defRPr>
            </a:pPr>
            <a:r>
              <a:rPr sz="1350" b="1">
                <a:solidFill>
                  <a:srgbClr val="101617"/>
                </a:solidFill>
              </a:rPr>
              <a:t>EXPAND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2B819F-92A2-4821-8DC2-FB330B9D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00450"/>
            <a:ext cx="1981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96C"/>
                </a:solidFill>
              </a:defRPr>
            </a:pPr>
            <a:r>
              <a:rPr sz="1350" b="0">
                <a:solidFill>
                  <a:srgbClr val="5D696C"/>
                </a:solidFill>
              </a:rPr>
              <a:t>Add creators, events and local discovery to deepen the graph.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665200-1026-44B2-9F82-82C0B1B6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66950"/>
            <a:ext cx="2400300" cy="29718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9F29C-CD9B-4A43-9F1C-E8ADC4DA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955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828C"/>
                </a:solidFill>
              </a:defRPr>
            </a:pPr>
            <a:r>
              <a:rPr sz="1650" b="1">
                <a:solidFill>
                  <a:srgbClr val="13828C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2253BD-F1A6-4AD2-A2EC-DFAAFC86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8610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617"/>
                </a:solidFill>
              </a:defRPr>
            </a:pPr>
            <a:r>
              <a:rPr sz="1350" b="1">
                <a:solidFill>
                  <a:srgbClr val="101617"/>
                </a:solidFill>
              </a:rPr>
              <a:t>MONETISE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D30E59-35EB-45A5-A5F5-36AC91BE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00450"/>
            <a:ext cx="1981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96C"/>
                </a:solidFill>
              </a:defRPr>
            </a:pPr>
            <a:r>
              <a:rPr sz="1350" b="0">
                <a:solidFill>
                  <a:srgbClr val="5D696C"/>
                </a:solidFill>
              </a:rPr>
              <a:t>Introduce paid events and commerce after engagement is proven.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D62543-3EF8-481F-AFFC-9D9DDDDF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828C"/>
                </a:solidFill>
              </a:defRPr>
            </a:pPr>
            <a:r>
              <a:rPr sz="1650" b="1">
                <a:solidFill>
                  <a:srgbClr val="13828C"/>
                </a:solidFill>
              </a:rPr>
              <a:t>Initial proof: activation → week-4 retention → invites per active user.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E5FC66-966A-4F23-8038-BDCFA325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96C"/>
                </a:solidFill>
              </a:defRPr>
            </a:pPr>
            <a:r>
              <a:rPr sz="975" b="1">
                <a:solidFill>
                  <a:srgbClr val="5D696C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888222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F055B5-9AF5-40A7-BCF8-D89F33DA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828C"/>
                </a:solidFill>
              </a:defRPr>
            </a:pPr>
            <a:r>
              <a:rPr sz="1050" b="1">
                <a:solidFill>
                  <a:srgbClr val="13828C"/>
                </a:solidFill>
              </a:rPr>
              <a:t>VOIID • PRE-SEED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4ADE6-DF19-46B1-9950-262094C8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617"/>
                </a:solidFill>
              </a:defRPr>
            </a:pPr>
            <a:r>
              <a:rPr sz="3000" b="1">
                <a:solidFill>
                  <a:srgbClr val="101617"/>
                </a:solidFill>
              </a:rPr>
              <a:t>An 18-month path to repeatable growth.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076E40-11F7-47CF-A39C-B4977A95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2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51429C-4DAE-405A-95C0-8A14BE93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828C"/>
                </a:solidFill>
              </a:defRPr>
            </a:pPr>
            <a:r>
              <a:rPr sz="1350" b="1">
                <a:solidFill>
                  <a:srgbClr val="13828C"/>
                </a:solidFill>
              </a:rPr>
              <a:t>0–3 MONTHS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96FB3-C89C-43B4-A9F4-21CC9B40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43125"/>
            <a:ext cx="845820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02EA7-0911-40FB-BE4C-39AD6E85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52675"/>
            <a:ext cx="784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617"/>
                </a:solidFill>
              </a:defRPr>
            </a:pPr>
            <a:r>
              <a:rPr sz="1575" b="0">
                <a:solidFill>
                  <a:srgbClr val="101617"/>
                </a:solidFill>
              </a:rPr>
              <a:t>Complete pilot hardening • open waitlist • instrument activation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08D003-D65B-4794-8694-BF9E5067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E22CE"/>
                </a:solidFill>
              </a:defRPr>
            </a:pPr>
            <a:r>
              <a:rPr sz="1350" b="1">
                <a:solidFill>
                  <a:srgbClr val="7E22CE"/>
                </a:solidFill>
              </a:rPr>
              <a:t>3–9 MONTHS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500EA-2F8E-4401-8D11-CACA6F26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24225"/>
            <a:ext cx="845820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30377C-8BB8-4003-B529-C6D39179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33775"/>
            <a:ext cx="784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617"/>
                </a:solidFill>
              </a:defRPr>
            </a:pPr>
            <a:r>
              <a:rPr sz="1575" b="0">
                <a:solidFill>
                  <a:srgbClr val="101617"/>
                </a:solidFill>
              </a:rPr>
              <a:t>Launch focused cohorts • strengthen calls, clips and games • prove retention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916F1E-09DA-4748-98AA-CAAA862F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16207"/>
                </a:solidFill>
              </a:defRPr>
            </a:pPr>
            <a:r>
              <a:rPr sz="1350" b="1">
                <a:solidFill>
                  <a:srgbClr val="A16207"/>
                </a:solidFill>
              </a:rPr>
              <a:t>9–18 MONTHS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FA99AF-1176-438B-BDBD-84AFF9DF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05325"/>
            <a:ext cx="845820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1D4758-AC99-4A44-B780-2A94EB77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14875"/>
            <a:ext cx="784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617"/>
                </a:solidFill>
              </a:defRPr>
            </a:pPr>
            <a:r>
              <a:rPr sz="1575" b="0">
                <a:solidFill>
                  <a:srgbClr val="101617"/>
                </a:solidFill>
              </a:rPr>
              <a:t>Scale communities • activate paid events • prepare creator monetisation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5CFD7C-37E3-40D3-90CB-B7236324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40957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2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072549-E095-4922-ADF0-63782FAC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15025"/>
            <a:ext cx="3867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NORTH STAR: WEEKLY TRUSTED CONNECTIONS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2CC763-A991-4062-9731-AF8EEFD3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96C"/>
                </a:solidFill>
              </a:defRPr>
            </a:pPr>
            <a:r>
              <a:rPr sz="975" b="1">
                <a:solidFill>
                  <a:srgbClr val="5D696C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144275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782A50-FA43-4FAD-8694-92057495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828C"/>
                </a:solidFill>
              </a:defRPr>
            </a:pPr>
            <a:r>
              <a:rPr sz="1050" b="1">
                <a:solidFill>
                  <a:srgbClr val="13828C"/>
                </a:solidFill>
              </a:rPr>
              <a:t>VOIID • PRE-SEED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3FEC6-78A1-4AF5-A65A-2764D396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617"/>
                </a:solidFill>
              </a:defRPr>
            </a:pPr>
            <a:r>
              <a:rPr sz="3000" b="1">
                <a:solidFill>
                  <a:srgbClr val="101617"/>
                </a:solidFill>
              </a:rPr>
              <a:t>Founder-led, product-first execution.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DA69A0-7C6D-438D-8E6E-FD1AB727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2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69E1E-79B1-4817-92A1-F8EC4ED0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2190750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2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FE523F-6DDB-4301-ADE7-0793D382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9DE4E-046A-40A3-969B-1F437ADF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479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617"/>
                </a:solidFill>
              </a:defRPr>
            </a:pPr>
            <a:r>
              <a:rPr sz="2550" b="1">
                <a:solidFill>
                  <a:srgbClr val="101617"/>
                </a:solidFill>
              </a:rPr>
              <a:t>Sampath Kumar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0F2DB0-5BCD-4E75-892A-4C858ECC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194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828C"/>
                </a:solidFill>
              </a:defRPr>
            </a:pPr>
            <a:r>
              <a:rPr sz="1725" b="1">
                <a:solidFill>
                  <a:srgbClr val="13828C"/>
                </a:solidFill>
              </a:rPr>
              <a:t>Founder &amp; CEO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D9ABC4-F3EF-43F9-A34D-079E6D0D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24250"/>
            <a:ext cx="695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96C"/>
                </a:solidFill>
              </a:defRPr>
            </a:pPr>
            <a:r>
              <a:rPr sz="1800" b="0">
                <a:solidFill>
                  <a:srgbClr val="5D696C"/>
                </a:solidFill>
              </a:rPr>
              <a:t>Leading Voiid from product vision through pilot execution—with a clear ambition to build in India for the world.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F1F4E7-30F3-40E3-AEB9-3A01F1FE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53000"/>
            <a:ext cx="619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4549AC-FE17-44D6-87C9-C408AF86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2197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16207"/>
                </a:solidFill>
              </a:defRPr>
            </a:pPr>
            <a:r>
              <a:rPr sz="1425" b="1">
                <a:solidFill>
                  <a:srgbClr val="A16207"/>
                </a:solidFill>
              </a:rPr>
              <a:t>Pre-seed priorities: product • growth • engineering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106B07-1D2A-4595-8AF0-2ABB68EA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96C"/>
                </a:solidFill>
              </a:defRPr>
            </a:pPr>
            <a:r>
              <a:rPr sz="975" b="1">
                <a:solidFill>
                  <a:srgbClr val="5D696C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4083051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7EBE5E-4B30-4A93-91BA-38B8C35B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828C"/>
                </a:solidFill>
              </a:defRPr>
            </a:pPr>
            <a:r>
              <a:rPr sz="1050" b="1">
                <a:solidFill>
                  <a:srgbClr val="13828C"/>
                </a:solidFill>
              </a:rPr>
              <a:t>VOIID • PRE-SEED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7D1161-6D21-4946-B2E1-64A2878A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617"/>
                </a:solidFill>
              </a:defRPr>
            </a:pPr>
            <a:r>
              <a:rPr sz="3000" b="1">
                <a:solidFill>
                  <a:srgbClr val="101617"/>
                </a:solidFill>
              </a:rPr>
              <a:t>Why now: social and commerce are converging.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F91EB0-FD30-426B-A1F6-323B6937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2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52A2D8-50C5-4F29-A0F1-D53FD55A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10540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13828C"/>
          </a:solidFill>
          <a:ln xmlns:a="http://schemas.openxmlformats.org/drawingml/2006/main" w="9525">
            <a:solidFill>
              <a:srgbClr val="13828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7528D-1ACF-4E0E-9D03-C29D3FC8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464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EFF0"/>
                </a:solidFill>
              </a:defRPr>
            </a:pPr>
            <a:r>
              <a:rPr sz="1125" b="1">
                <a:solidFill>
                  <a:srgbClr val="D9EFF0"/>
                </a:solidFill>
              </a:rPr>
              <a:t>SOCIAL SCALE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EB4144-35D2-46D8-9A00-06D1F5BA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491M social-media identities in India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90501B-252C-46D3-B01B-26F37A26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464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9EFF0"/>
                </a:solidFill>
              </a:defRPr>
            </a:pPr>
            <a:r>
              <a:rPr sz="1275" b="0">
                <a:solidFill>
                  <a:srgbClr val="D9EFF0"/>
                </a:solidFill>
              </a:rPr>
              <a:t>The audience already exists.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BF8116-7E9A-4B1A-AADB-6F0F1691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510540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51349F-D5EE-484F-8302-2ED35F11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86000"/>
            <a:ext cx="464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828C"/>
                </a:solidFill>
              </a:defRPr>
            </a:pPr>
            <a:r>
              <a:rPr sz="1125" b="1">
                <a:solidFill>
                  <a:srgbClr val="13828C"/>
                </a:solidFill>
              </a:rPr>
              <a:t>PAYMENT HABIT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39D413-E378-4695-88B4-325DAE06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9080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617"/>
                </a:solidFill>
              </a:defRPr>
            </a:pPr>
            <a:r>
              <a:rPr sz="1650" b="1">
                <a:solidFill>
                  <a:srgbClr val="101617"/>
                </a:solidFill>
              </a:rPr>
              <a:t>22B+ monthly UPI transactions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12C137-F1EA-4690-BB0F-7C13DCE7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28950"/>
            <a:ext cx="464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96C"/>
                </a:solidFill>
              </a:defRPr>
            </a:pPr>
            <a:r>
              <a:rPr sz="1275" b="0">
                <a:solidFill>
                  <a:srgbClr val="5D696C"/>
                </a:solidFill>
              </a:rPr>
              <a:t>Transactions are native digital behaviour.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F2B0C3-D2B5-499C-A7C3-03FF5CFC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510540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C01B2E-1B86-430E-ADAB-91D4FD59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464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828C"/>
                </a:solidFill>
              </a:defRPr>
            </a:pPr>
            <a:r>
              <a:rPr sz="1125" b="1">
                <a:solidFill>
                  <a:srgbClr val="13828C"/>
                </a:solidFill>
              </a:rPr>
              <a:t>CREATOR SUPPLY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779A48-B7A2-499C-B6AB-CCB961EE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617"/>
                </a:solidFill>
              </a:defRPr>
            </a:pPr>
            <a:r>
              <a:rPr sz="1650" b="1">
                <a:solidFill>
                  <a:srgbClr val="101617"/>
                </a:solidFill>
              </a:rPr>
              <a:t>2–2.5M active Indian creators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2FFE84-A6A7-400D-A349-14E33F3D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464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96C"/>
                </a:solidFill>
              </a:defRPr>
            </a:pPr>
            <a:r>
              <a:rPr sz="1275" b="0">
                <a:solidFill>
                  <a:srgbClr val="5D696C"/>
                </a:solidFill>
              </a:rPr>
              <a:t>Only 8–10% monetise effectively.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9F935C-1A5E-4C77-8578-8A5FE2BB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29050"/>
            <a:ext cx="510540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EA4776-CD42-4E2E-92B3-8FE98315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19550"/>
            <a:ext cx="464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828C"/>
                </a:solidFill>
              </a:defRPr>
            </a:pPr>
            <a:r>
              <a:rPr sz="1125" b="1">
                <a:solidFill>
                  <a:srgbClr val="13828C"/>
                </a:solidFill>
              </a:rPr>
              <a:t>PLATFORM SHIFT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90FF2E-7882-4A60-A8B8-EC27335F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2435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617"/>
                </a:solidFill>
              </a:defRPr>
            </a:pPr>
            <a:r>
              <a:rPr sz="1650" b="1">
                <a:solidFill>
                  <a:srgbClr val="101617"/>
                </a:solidFill>
              </a:rPr>
              <a:t>Messaging apps are adding payments and business tools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E0ECD5-FF8D-4CAD-90BD-BEB37EA4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464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96C"/>
                </a:solidFill>
              </a:defRPr>
            </a:pPr>
            <a:r>
              <a:rPr sz="1275" b="0">
                <a:solidFill>
                  <a:srgbClr val="5D696C"/>
                </a:solidFill>
              </a:rPr>
              <a:t>The market is moving toward integrated utility.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31E55E-F961-409A-8DE8-3B36B9D8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96C"/>
                </a:solidFill>
              </a:defRPr>
            </a:pPr>
            <a:r>
              <a:rPr sz="975" b="1">
                <a:solidFill>
                  <a:srgbClr val="5D696C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1131583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96A0E1-B147-4DCE-9E51-24C2B5A6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828C"/>
                </a:solidFill>
              </a:defRPr>
            </a:pPr>
            <a:r>
              <a:rPr sz="1050" b="1">
                <a:solidFill>
                  <a:srgbClr val="13828C"/>
                </a:solidFill>
              </a:rPr>
              <a:t>VOIID • PRE-SEED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558807-5B38-4B5D-8F54-48083C8B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617"/>
                </a:solidFill>
              </a:defRPr>
            </a:pPr>
            <a:r>
              <a:rPr sz="3000" b="1">
                <a:solidFill>
                  <a:srgbClr val="101617"/>
                </a:solidFill>
              </a:rPr>
              <a:t>Win one dense network first.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108C1B-EC93-4FA2-A159-3653D02E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2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D3A0CF-B4A0-4F37-8A6B-7CAC3C93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762500" cy="34290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382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004122-3C91-4DFC-B216-679F7A4F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193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EFF0"/>
                </a:solidFill>
              </a:defRPr>
            </a:pPr>
            <a:r>
              <a:rPr sz="1200" b="1">
                <a:solidFill>
                  <a:srgbClr val="D9EFF0"/>
                </a:solidFill>
              </a:rPr>
              <a:t>BEACHHEAD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FB7121-9E3C-4A55-8620-71C463C0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95600"/>
            <a:ext cx="4000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Private, mobile-first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communities with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50–500 members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6AC388-D315-4D0A-8876-85827D3F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1485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FF0"/>
                </a:solidFill>
              </a:defRPr>
            </a:pPr>
            <a:r>
              <a:rPr sz="1425" b="0">
                <a:solidFill>
                  <a:srgbClr val="D9EFF0"/>
                </a:solidFill>
              </a:rPr>
              <a:t>They already coordinate across messaging, content, events and payment links.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9B430-5D75-42E1-96EF-02C56766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95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828C"/>
                </a:solidFill>
              </a:defRPr>
            </a:pPr>
            <a:r>
              <a:rPr sz="1200" b="1">
                <a:solidFill>
                  <a:srgbClr val="13828C"/>
                </a:solidFill>
              </a:rPr>
              <a:t>PAIN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67D79-7FAF-4EC8-99D6-477D5B67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9550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617"/>
                </a:solidFill>
              </a:defRPr>
            </a:pPr>
            <a:r>
              <a:rPr sz="1575" b="1">
                <a:solidFill>
                  <a:srgbClr val="101617"/>
                </a:solidFill>
              </a:rPr>
              <a:t>Fragmented tools and weak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7E7AB0-0EAC-4096-9258-07512974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051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C514F7-D510-460C-AB28-1DAF1012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71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828C"/>
                </a:solidFill>
              </a:defRPr>
            </a:pPr>
            <a:r>
              <a:rPr sz="1200" b="1">
                <a:solidFill>
                  <a:srgbClr val="13828C"/>
                </a:solidFill>
              </a:rPr>
              <a:t>ENTRY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223A19-B9EA-490A-96EA-4598E6E2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7180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617"/>
                </a:solidFill>
              </a:defRPr>
            </a:pPr>
            <a:r>
              <a:rPr sz="1575" b="1">
                <a:solidFill>
                  <a:srgbClr val="101617"/>
                </a:solidFill>
              </a:rPr>
              <a:t>Community leaders invite the network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DCEFE1-E478-4138-988F-1751B52C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814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ED54BE-75E8-4B72-B7E0-B7472BB3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48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828C"/>
                </a:solidFill>
              </a:defRPr>
            </a:pPr>
            <a:r>
              <a:rPr sz="1200" b="1">
                <a:solidFill>
                  <a:srgbClr val="13828C"/>
                </a:solidFill>
              </a:rPr>
              <a:t>ACTIVATION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AB1DD2-0C1D-49A6-B66A-D3B8ACCE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4810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617"/>
                </a:solidFill>
              </a:defRPr>
            </a:pPr>
            <a:r>
              <a:rPr sz="1575" b="1">
                <a:solidFill>
                  <a:srgbClr val="101617"/>
                </a:solidFill>
              </a:rPr>
              <a:t>Chat + calls + games in week one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46AE7D-E4A6-47A7-89DD-C6E9EBF2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D72174-9B5A-48B5-9F25-AC398794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244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828C"/>
                </a:solidFill>
              </a:defRPr>
            </a:pPr>
            <a:r>
              <a:rPr sz="1200" b="1">
                <a:solidFill>
                  <a:srgbClr val="13828C"/>
                </a:solidFill>
              </a:rPr>
              <a:t>EXPANSION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67ED90-EB59-4A2D-9E13-7C84187F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2440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617"/>
                </a:solidFill>
              </a:defRPr>
            </a:pPr>
            <a:r>
              <a:rPr sz="1575" b="1">
                <a:solidFill>
                  <a:srgbClr val="101617"/>
                </a:solidFill>
              </a:rPr>
              <a:t>Events, creators and commerce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139220-B88C-4575-81F8-7E65B8AA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3340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E0E4CF-3324-47EC-99E6-2E669F4F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96C"/>
                </a:solidFill>
              </a:defRPr>
            </a:pPr>
            <a:r>
              <a:rPr sz="975" b="1">
                <a:solidFill>
                  <a:srgbClr val="5D696C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08758128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12FF16-AA36-479F-999E-C667A09B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828C"/>
                </a:solidFill>
              </a:defRPr>
            </a:pPr>
            <a:r>
              <a:rPr sz="1050" b="1">
                <a:solidFill>
                  <a:srgbClr val="13828C"/>
                </a:solidFill>
              </a:rPr>
              <a:t>VOIID • PRE-SEED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62DF97-FD75-446D-861E-3612AEAB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617"/>
                </a:solidFill>
              </a:defRPr>
            </a:pPr>
            <a:r>
              <a:rPr sz="3000" b="1">
                <a:solidFill>
                  <a:srgbClr val="101617"/>
                </a:solidFill>
              </a:rPr>
              <a:t>The pilot is designed to produce investable proof.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11CFA-126C-4437-BE88-31989709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2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D6B9C-B1AB-4F2D-9151-FD9438E9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828C"/>
                </a:solidFill>
              </a:defRPr>
            </a:pPr>
            <a:r>
              <a:rPr sz="1725" b="1">
                <a:solidFill>
                  <a:srgbClr val="13828C"/>
                </a:solidFill>
              </a:rPr>
              <a:t>Current stage: product in pilot • waitlist opening next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40FB8-22EC-40CE-82C1-BFDECA40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2956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892A18-D763-44DD-A3CB-7DEB7A89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91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828C"/>
                </a:solidFill>
              </a:defRPr>
            </a:pPr>
            <a:r>
              <a:rPr sz="1125" b="1">
                <a:solidFill>
                  <a:srgbClr val="13828C"/>
                </a:solidFill>
              </a:rPr>
              <a:t>ACTIVATION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4D1198-529D-4843-BB6F-4024EC56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617"/>
                </a:solidFill>
              </a:defRPr>
            </a:pPr>
            <a:r>
              <a:rPr sz="1350" b="1">
                <a:solidFill>
                  <a:srgbClr val="101617"/>
                </a:solidFill>
              </a:rPr>
              <a:t>% completing a trusted interaction in 24 hours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97C42C-46A3-4FAA-B1C4-2499BD93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0"/>
            <a:ext cx="32956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118A2C-D32A-4198-AB72-F8208CDC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43200"/>
            <a:ext cx="291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E22CE"/>
                </a:solidFill>
              </a:defRPr>
            </a:pPr>
            <a:r>
              <a:rPr sz="1125" b="1">
                <a:solidFill>
                  <a:srgbClr val="7E22CE"/>
                </a:solidFill>
              </a:rPr>
              <a:t>RETENTION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442E17-89EB-4C83-98F4-A8CD8566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4800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617"/>
                </a:solidFill>
              </a:defRPr>
            </a:pPr>
            <a:r>
              <a:rPr sz="1350" b="1">
                <a:solidFill>
                  <a:srgbClr val="101617"/>
                </a:solidFill>
              </a:rPr>
              <a:t>Week-1 and week-4 active-user retention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15D76E-FE8C-4C5E-ADE6-D89CB7AE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71750"/>
            <a:ext cx="32956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1CC9F4-3827-4900-8D7E-4FB5F7D3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43200"/>
            <a:ext cx="291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</a:defRPr>
            </a:pPr>
            <a:r>
              <a:rPr sz="1125" b="1">
                <a:solidFill>
                  <a:srgbClr val="1D4ED8"/>
                </a:solidFill>
              </a:rPr>
              <a:t>DENSITY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FE6105-D729-4B7D-9E5C-A6D57FDE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4800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617"/>
                </a:solidFill>
              </a:defRPr>
            </a:pPr>
            <a:r>
              <a:rPr sz="1350" b="1">
                <a:solidFill>
                  <a:srgbClr val="101617"/>
                </a:solidFill>
              </a:rPr>
              <a:t>Active relationships per community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BFC926-47B1-4BC5-8912-B7F0A521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32956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59EA62-09D3-45C5-BEBB-B479BAE8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291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828C"/>
                </a:solidFill>
              </a:defRPr>
            </a:pPr>
            <a:r>
              <a:rPr sz="1125" b="1">
                <a:solidFill>
                  <a:srgbClr val="13828C"/>
                </a:solidFill>
              </a:rPr>
              <a:t>VIRALITY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81D219-DA77-4812-AB3D-11112C16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617"/>
                </a:solidFill>
              </a:defRPr>
            </a:pPr>
            <a:r>
              <a:rPr sz="1350" b="1">
                <a:solidFill>
                  <a:srgbClr val="101617"/>
                </a:solidFill>
              </a:rPr>
              <a:t>Invites accepted per active user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51E60A-AAF3-4870-89D5-8DB410BE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24300"/>
            <a:ext cx="32956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8BF367-8633-4F9D-841A-CFCA7859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95750"/>
            <a:ext cx="291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E22CE"/>
                </a:solidFill>
              </a:defRPr>
            </a:pPr>
            <a:r>
              <a:rPr sz="1125" b="1">
                <a:solidFill>
                  <a:srgbClr val="7E22CE"/>
                </a:solidFill>
              </a:rPr>
              <a:t>ENGAGEMENT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C380C8-6924-4043-8208-6C1E84ED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0055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617"/>
                </a:solidFill>
              </a:defRPr>
            </a:pPr>
            <a:r>
              <a:rPr sz="1350" b="1">
                <a:solidFill>
                  <a:srgbClr val="101617"/>
                </a:solidFill>
              </a:rPr>
              <a:t>Weekly trusted connections per user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A54776-203A-4700-B23F-F2A8F324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4300"/>
            <a:ext cx="32956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97179F-7503-467D-81E7-2D2185A0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95750"/>
            <a:ext cx="291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</a:defRPr>
            </a:pPr>
            <a:r>
              <a:rPr sz="1125" b="1">
                <a:solidFill>
                  <a:srgbClr val="1D4ED8"/>
                </a:solidFill>
              </a:rPr>
              <a:t>RELIABILITY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A9371F-70FA-416F-8A01-5177D3CE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0055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617"/>
                </a:solidFill>
              </a:defRPr>
            </a:pPr>
            <a:r>
              <a:rPr sz="1350" b="1">
                <a:solidFill>
                  <a:srgbClr val="101617"/>
                </a:solidFill>
              </a:rPr>
              <a:t>Message, call and session success rate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95B6D4-ED14-42ED-9AAC-50EB1872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8204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D9EF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F8C458-83E5-41DC-98C3-96872D74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29275"/>
            <a:ext cx="1036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828C"/>
                </a:solidFill>
              </a:defRPr>
            </a:pPr>
            <a:r>
              <a:rPr sz="1275" b="1">
                <a:solidFill>
                  <a:srgbClr val="13828C"/>
                </a:solidFill>
              </a:rPr>
              <a:t>BASELINE BEING ESTABLISHED — report cohort size, dates and raw counts alongside percentages.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8EC389-1728-42FB-A0A1-F20E7ADF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96C"/>
                </a:solidFill>
              </a:defRPr>
            </a:pPr>
            <a:r>
              <a:rPr sz="975" b="1">
                <a:solidFill>
                  <a:srgbClr val="5D696C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69472185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843351-8F50-4BEE-BFA3-45A5764B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828C"/>
                </a:solidFill>
              </a:defRPr>
            </a:pPr>
            <a:r>
              <a:rPr sz="1050" b="1">
                <a:solidFill>
                  <a:srgbClr val="13828C"/>
                </a:solidFill>
              </a:rPr>
              <a:t>VOIID • PRE-SEED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B41C47-3B4E-45D6-9DD9-B0624C08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617"/>
                </a:solidFill>
              </a:defRPr>
            </a:pPr>
            <a:r>
              <a:rPr sz="3000" b="1">
                <a:solidFill>
                  <a:srgbClr val="101617"/>
                </a:solidFill>
              </a:rPr>
              <a:t>From audience scale to a revenue model.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8CC29-3663-4041-9966-FADCB8E1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2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B59424-D0D8-41C0-87DA-70548D7F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204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C3C24F-0CA5-4002-B60E-2C8993B4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828C"/>
                </a:solidFill>
              </a:defRPr>
            </a:pPr>
            <a:r>
              <a:rPr sz="1350" b="1">
                <a:solidFill>
                  <a:srgbClr val="13828C"/>
                </a:solidFill>
              </a:rPr>
              <a:t>TAM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E01DFB-35B1-429F-8C26-C001CE0B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2669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617"/>
                </a:solidFill>
              </a:defRPr>
            </a:pPr>
            <a:r>
              <a:rPr sz="2250" b="1">
                <a:solidFill>
                  <a:srgbClr val="101617"/>
                </a:solidFill>
              </a:rPr>
              <a:t>5.66B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10780-3675-4201-906F-A01D67CA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2669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617"/>
                </a:solidFill>
              </a:defRPr>
            </a:pPr>
            <a:r>
              <a:rPr sz="1425" b="1">
                <a:solidFill>
                  <a:srgbClr val="101617"/>
                </a:solidFill>
              </a:rPr>
              <a:t>Global social-media identities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C72B33-02DB-4E24-A95A-2C3F9DB5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5717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96C"/>
                </a:solidFill>
              </a:defRPr>
            </a:pPr>
            <a:r>
              <a:rPr sz="1200" b="0">
                <a:solidFill>
                  <a:srgbClr val="5D696C"/>
                </a:solidFill>
              </a:rPr>
              <a:t>Global social layer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AFB2E4-0815-418D-984A-03019EDA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8204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122D00-2880-454F-A7D6-D8A97F65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828C"/>
                </a:solidFill>
              </a:defRPr>
            </a:pPr>
            <a:r>
              <a:rPr sz="1350" b="1">
                <a:solidFill>
                  <a:srgbClr val="13828C"/>
                </a:solidFill>
              </a:rPr>
              <a:t>SAM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60895B-E352-4173-BD91-BACBAAF8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3718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617"/>
                </a:solidFill>
              </a:defRPr>
            </a:pPr>
            <a:r>
              <a:rPr sz="2250" b="1">
                <a:solidFill>
                  <a:srgbClr val="101617"/>
                </a:solidFill>
              </a:rPr>
              <a:t>491M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C430AA-F545-4182-B5F3-EA5DE1DB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3718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617"/>
                </a:solidFill>
              </a:defRPr>
            </a:pPr>
            <a:r>
              <a:rPr sz="1425" b="1">
                <a:solidFill>
                  <a:srgbClr val="101617"/>
                </a:solidFill>
              </a:rPr>
              <a:t>Indian social-media identities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D61BAA-AFAA-4C5A-8D20-A9B9FDAA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6766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96C"/>
                </a:solidFill>
              </a:defRPr>
            </a:pPr>
            <a:r>
              <a:rPr sz="1200" b="0">
                <a:solidFill>
                  <a:srgbClr val="5D696C"/>
                </a:solidFill>
              </a:rPr>
              <a:t>India launch market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9ECE77-E8F9-4DFE-94C3-88DEE2E9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08204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3828C"/>
          </a:solidFill>
          <a:ln xmlns:a="http://schemas.openxmlformats.org/drawingml/2006/main" w="9525">
            <a:solidFill>
              <a:srgbClr val="13828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2A664C-9E45-4D21-9933-D2A2B245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EFF0"/>
                </a:solidFill>
              </a:defRPr>
            </a:pPr>
            <a:r>
              <a:rPr sz="1350" b="1">
                <a:solidFill>
                  <a:srgbClr val="D9EFF0"/>
                </a:solidFill>
              </a:rPr>
              <a:t>SOM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9DCCBE-4DE3-49CD-A9A6-F764DE09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4767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To validate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8125E5-B033-40F1-A92C-E1C95854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4767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Active users × paid activity × take rate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2CEE37-BE47-4C13-951A-4FE9E01B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7815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FF0"/>
                </a:solidFill>
              </a:defRPr>
            </a:pPr>
            <a:r>
              <a:rPr sz="1200" b="0">
                <a:solidFill>
                  <a:srgbClr val="D9EFF0"/>
                </a:solidFill>
              </a:rPr>
              <a:t>Five-year operating target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CCEA31-0786-4D68-8D94-F10E3430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828C"/>
                </a:solidFill>
              </a:defRPr>
            </a:pPr>
            <a:r>
              <a:rPr sz="1200" b="1">
                <a:solidFill>
                  <a:srgbClr val="13828C"/>
                </a:solidFill>
              </a:rPr>
              <a:t>SOM formula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55B88A-4549-419C-A463-A45FAF08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610225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617"/>
                </a:solidFill>
              </a:defRPr>
            </a:pPr>
            <a:r>
              <a:rPr sz="1650" b="1">
                <a:solidFill>
                  <a:srgbClr val="101617"/>
                </a:solidFill>
              </a:rPr>
              <a:t>Retained communities × active members × annual GMV × Voiid take rate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B83778-98E5-4447-B225-E3E80C44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96C"/>
                </a:solidFill>
              </a:defRPr>
            </a:pPr>
            <a:r>
              <a:rPr sz="975" b="1">
                <a:solidFill>
                  <a:srgbClr val="5D696C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71189942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592E68-8A2B-43F8-B84D-354CA2FF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828C"/>
                </a:solidFill>
              </a:defRPr>
            </a:pPr>
            <a:r>
              <a:rPr sz="1050" b="1">
                <a:solidFill>
                  <a:srgbClr val="13828C"/>
                </a:solidFill>
              </a:rPr>
              <a:t>VOIID • PRE-SEED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B070CF-4F6B-4AC0-AE0C-5F6FDF85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617"/>
                </a:solidFill>
              </a:defRPr>
            </a:pPr>
            <a:r>
              <a:rPr sz="3000" b="1">
                <a:solidFill>
                  <a:srgbClr val="101617"/>
                </a:solidFill>
              </a:rPr>
              <a:t>Trust first. Transactions follow.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7A5BBA-081C-44F6-95D0-E06022B3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2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A1A8CA-0C7D-4E21-BC9E-CBF7A114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828C"/>
                </a:solidFill>
              </a:defRPr>
            </a:pPr>
            <a:r>
              <a:rPr sz="1800" b="1">
                <a:solidFill>
                  <a:srgbClr val="13828C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B05C81-A35A-45EB-B012-D1A2113A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145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828C"/>
                </a:solidFill>
              </a:defRPr>
            </a:pPr>
            <a:r>
              <a:rPr sz="1350" b="1">
                <a:solidFill>
                  <a:srgbClr val="13828C"/>
                </a:solidFill>
              </a:rPr>
              <a:t>EVENTS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FA521D-13CC-4426-879B-A8FA4779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145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617"/>
                </a:solidFill>
              </a:defRPr>
            </a:pPr>
            <a:r>
              <a:rPr sz="1725" b="1">
                <a:solidFill>
                  <a:srgbClr val="101617"/>
                </a:solidFill>
              </a:rPr>
              <a:t>Ticketing commission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118CB6-C045-4DE7-B31B-FFF9BF41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14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D696C"/>
                </a:solidFill>
              </a:defRPr>
            </a:pPr>
            <a:r>
              <a:rPr sz="1275" b="1">
                <a:solidFill>
                  <a:srgbClr val="5D696C"/>
                </a:solidFill>
              </a:rPr>
              <a:t>First revenue wedge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A51735-4276-49E5-8823-F12F72AE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67000"/>
            <a:ext cx="967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80D666-D79E-4A47-BD09-048BFA94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</a:defRPr>
            </a:pPr>
            <a:r>
              <a:rPr sz="1800" b="1">
                <a:solidFill>
                  <a:srgbClr val="1D4ED8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4691CC-D955-41BA-B531-35597F07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813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828C"/>
                </a:solidFill>
              </a:defRPr>
            </a:pPr>
            <a:r>
              <a:rPr sz="1350" b="1">
                <a:solidFill>
                  <a:srgbClr val="13828C"/>
                </a:solidFill>
              </a:rPr>
              <a:t>COMMUNITY COMMERCE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BFE395-E2FE-4F50-94BA-4AF03BF4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813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617"/>
                </a:solidFill>
              </a:defRPr>
            </a:pPr>
            <a:r>
              <a:rPr sz="1725" b="1">
                <a:solidFill>
                  <a:srgbClr val="101617"/>
                </a:solidFill>
              </a:rPr>
              <a:t>Transaction take 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CEEDC1-32D2-4ADA-A35D-AFDEFCE0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81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D696C"/>
                </a:solidFill>
              </a:defRPr>
            </a:pPr>
            <a:r>
              <a:rPr sz="1275" b="1">
                <a:solidFill>
                  <a:srgbClr val="5D696C"/>
                </a:solidFill>
              </a:rPr>
              <a:t>After payment rails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7BF655-55B3-4F88-89D3-79C0C563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33800"/>
            <a:ext cx="967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DD7934-2F49-42B3-9CBE-73AA82C6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16207"/>
                </a:solidFill>
              </a:defRPr>
            </a:pPr>
            <a:r>
              <a:rPr sz="1800" b="1">
                <a:solidFill>
                  <a:srgbClr val="A16207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C0726D-3473-4C27-928C-08023D70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481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828C"/>
                </a:solidFill>
              </a:defRPr>
            </a:pPr>
            <a:r>
              <a:rPr sz="1350" b="1">
                <a:solidFill>
                  <a:srgbClr val="13828C"/>
                </a:solidFill>
              </a:rPr>
              <a:t>CREATOR TOOLS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DC3817-9D85-472E-B705-26858A5E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2481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617"/>
                </a:solidFill>
              </a:defRPr>
            </a:pPr>
            <a:r>
              <a:rPr sz="1725" b="1">
                <a:solidFill>
                  <a:srgbClr val="101617"/>
                </a:solidFill>
              </a:rPr>
              <a:t>Tips, subscriptions and services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BC6CDF-795C-4EE9-B7DC-5116329A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48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D696C"/>
                </a:solidFill>
              </a:defRPr>
            </a:pPr>
            <a:r>
              <a:rPr sz="1275" b="1">
                <a:solidFill>
                  <a:srgbClr val="5D696C"/>
                </a:solidFill>
              </a:rPr>
              <a:t>After creator pilots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46AB94-25A9-4375-B398-A06A2536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00600"/>
            <a:ext cx="967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B4C88F-0752-4ECB-89EC-A75A107C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D9EF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52DFF5-687F-43F9-B777-AC1B8C75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5785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828C"/>
                </a:solidFill>
              </a:defRPr>
            </a:pPr>
            <a:r>
              <a:rPr sz="1125" b="1">
                <a:solidFill>
                  <a:srgbClr val="13828C"/>
                </a:solidFill>
              </a:rPr>
              <a:t>PRICING VALIDATION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568E53-DD66-4E7F-9CAF-3BDFA50F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6197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617"/>
                </a:solidFill>
              </a:defRPr>
            </a:pPr>
            <a:r>
              <a:rPr sz="1500" b="1">
                <a:solidFill>
                  <a:srgbClr val="101617"/>
                </a:solidFill>
              </a:rPr>
              <a:t>Test willingness to pay, take rate and repeat GMV during controlled community pilots.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14BDC8-99AB-41CB-989B-D133BEB5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96C"/>
                </a:solidFill>
              </a:defRPr>
            </a:pPr>
            <a:r>
              <a:rPr sz="975" b="1">
                <a:solidFill>
                  <a:srgbClr val="5D696C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99984113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73C96F-E77B-4CAB-B238-E49B88B3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828C"/>
                </a:solidFill>
              </a:defRPr>
            </a:pPr>
            <a:r>
              <a:rPr sz="1050" b="1">
                <a:solidFill>
                  <a:srgbClr val="13828C"/>
                </a:solidFill>
              </a:rPr>
              <a:t>VOIID • PRE-SEED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68185-F7A4-4614-B294-2EA6D939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617"/>
                </a:solidFill>
              </a:defRPr>
            </a:pPr>
            <a:r>
              <a:rPr sz="3000" b="1">
                <a:solidFill>
                  <a:srgbClr val="101617"/>
                </a:solidFill>
              </a:rPr>
              <a:t>This round turns the pilot into repeatable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AB08EF-F548-4804-AB32-CD43EB86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2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2374A9-A9AD-4B11-A57A-EEE69274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828C"/>
                </a:solidFill>
              </a:defRPr>
            </a:pPr>
            <a:r>
              <a:rPr sz="1800" b="1">
                <a:solidFill>
                  <a:srgbClr val="13828C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FC91A7-3625-4795-B3EA-DEE35AC1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383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828C"/>
                </a:solidFill>
              </a:defRPr>
            </a:pPr>
            <a:r>
              <a:rPr sz="1275" b="1">
                <a:solidFill>
                  <a:srgbClr val="13828C"/>
                </a:solidFill>
              </a:rPr>
              <a:t>LAUNCH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EE8E55-B328-4930-8636-165A2943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38350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617"/>
                </a:solidFill>
              </a:defRPr>
            </a:pPr>
            <a:r>
              <a:rPr sz="1500" b="1">
                <a:solidFill>
                  <a:srgbClr val="101617"/>
                </a:solidFill>
              </a:rPr>
              <a:t>Reliable public product across iOS and Android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CE3A91-8D6E-452C-B099-0A0683BD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383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D696C"/>
                </a:solidFill>
              </a:defRPr>
            </a:pPr>
            <a:r>
              <a:rPr sz="1200" b="1">
                <a:solidFill>
                  <a:srgbClr val="5D696C"/>
                </a:solidFill>
              </a:rPr>
              <a:t>Product risk reduced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30F993-CAB5-4A8F-98F4-F6C1311F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28900"/>
            <a:ext cx="9563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50E859-FE54-4449-91D4-9AA7DCDA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</a:defRPr>
            </a:pPr>
            <a:r>
              <a:rPr sz="1800" b="1">
                <a:solidFill>
                  <a:srgbClr val="1D4ED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8BBB52-B7E5-482D-ACDA-E221E087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146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828C"/>
                </a:solidFill>
              </a:defRPr>
            </a:pPr>
            <a:r>
              <a:rPr sz="1275" b="1">
                <a:solidFill>
                  <a:srgbClr val="13828C"/>
                </a:solidFill>
              </a:rPr>
              <a:t>PROVE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758881-DD22-480B-87C9-4A790EE3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14650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617"/>
                </a:solidFill>
              </a:defRPr>
            </a:pPr>
            <a:r>
              <a:rPr sz="1500" b="1">
                <a:solidFill>
                  <a:srgbClr val="101617"/>
                </a:solidFill>
              </a:rPr>
              <a:t>Measured activation, retention and community density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3E97F4-863A-498A-BF30-1C2DC5F1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146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D696C"/>
                </a:solidFill>
              </a:defRPr>
            </a:pPr>
            <a:r>
              <a:rPr sz="1200" b="1">
                <a:solidFill>
                  <a:srgbClr val="5D696C"/>
                </a:solidFill>
              </a:rPr>
              <a:t>Engagement proven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E4CEFD-31D4-4CCD-8D8C-DEAAC8F5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505200"/>
            <a:ext cx="9563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84E230-458D-422A-895F-4B5314FA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38A58"/>
                </a:solidFill>
              </a:defRPr>
            </a:pPr>
            <a:r>
              <a:rPr sz="1800" b="1">
                <a:solidFill>
                  <a:srgbClr val="238A58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C61604-AD51-4E78-86C5-3B37B1D1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909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828C"/>
                </a:solidFill>
              </a:defRPr>
            </a:pPr>
            <a:r>
              <a:rPr sz="1275" b="1">
                <a:solidFill>
                  <a:srgbClr val="13828C"/>
                </a:solidFill>
              </a:rPr>
              <a:t>REPEAT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F052EE-D4A4-4AA1-89DD-9FDFBE3C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90950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617"/>
                </a:solidFill>
              </a:defRPr>
            </a:pPr>
            <a:r>
              <a:rPr sz="1500" b="1">
                <a:solidFill>
                  <a:srgbClr val="101617"/>
                </a:solidFill>
              </a:rPr>
              <a:t>Waitlist conversion and a repeatable community playbook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23B472-4946-4E77-B5A0-594FB95F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909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D696C"/>
                </a:solidFill>
              </a:defRPr>
            </a:pPr>
            <a:r>
              <a:rPr sz="1200" b="1">
                <a:solidFill>
                  <a:srgbClr val="5D696C"/>
                </a:solidFill>
              </a:rPr>
              <a:t>Distribution proven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739937-78A1-4F24-890A-ED076D78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81500"/>
            <a:ext cx="9563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39E47D-BD2A-4382-BCBE-78FCAE09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16207"/>
                </a:solidFill>
              </a:defRPr>
            </a:pPr>
            <a:r>
              <a:rPr sz="1800" b="1">
                <a:solidFill>
                  <a:srgbClr val="A16207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ACC9B2-B8AE-47AA-B888-66E98991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67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828C"/>
                </a:solidFill>
              </a:defRPr>
            </a:pPr>
            <a:r>
              <a:rPr sz="1275" b="1">
                <a:solidFill>
                  <a:srgbClr val="13828C"/>
                </a:solidFill>
              </a:rPr>
              <a:t>MONETISE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D48196-CBE5-47A0-B649-666C3C41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67250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617"/>
                </a:solidFill>
              </a:defRPr>
            </a:pPr>
            <a:r>
              <a:rPr sz="1500" b="1">
                <a:solidFill>
                  <a:srgbClr val="101617"/>
                </a:solidFill>
              </a:rPr>
              <a:t>First paid-event pilots and transaction revenue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51D099-879C-4D45-998E-00E2FC94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6672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D696C"/>
                </a:solidFill>
              </a:defRPr>
            </a:pPr>
            <a:r>
              <a:rPr sz="1200" b="1">
                <a:solidFill>
                  <a:srgbClr val="5D696C"/>
                </a:solidFill>
              </a:rPr>
              <a:t>Economics validated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E3E320-966D-4820-AC73-AC09C98B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57800"/>
            <a:ext cx="9563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EE5CF5-065E-4BBD-BCE3-0A11C9A1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9EF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83B2BE-115C-4AA9-A0F4-AC0A6FE1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102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828C"/>
                </a:solidFill>
              </a:defRPr>
            </a:pPr>
            <a:r>
              <a:rPr sz="1125" b="1">
                <a:solidFill>
                  <a:srgbClr val="13828C"/>
                </a:solidFill>
              </a:rPr>
              <a:t>NEXT-ROUND READY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197C45-C088-4131-B689-B715916F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762625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617"/>
                </a:solidFill>
              </a:defRPr>
            </a:pPr>
            <a:r>
              <a:rPr sz="1575" b="1">
                <a:solidFill>
                  <a:srgbClr val="101617"/>
                </a:solidFill>
              </a:rPr>
              <a:t>Retention + repeatable acquisition + first revenue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12A423-BF9C-40D0-8AF2-F08297BF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96C"/>
                </a:solidFill>
              </a:defRPr>
            </a:pPr>
            <a:r>
              <a:rPr sz="975" b="1">
                <a:solidFill>
                  <a:srgbClr val="5D696C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94373974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3828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040BD5-DE36-45DD-A3EE-00228BC4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EFF0"/>
                </a:solidFill>
              </a:defRPr>
            </a:pPr>
            <a:r>
              <a:rPr sz="1125" b="1">
                <a:solidFill>
                  <a:srgbClr val="D9EFF0"/>
                </a:solidFill>
              </a:rPr>
              <a:t>THE PRE-SEED ROUND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D245F4-C02B-498A-B5AE-E106DC95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85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Built in India.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For the world.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CF99A-650D-4108-B979-5DDE0EAD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52450"/>
            <a:ext cx="4171950" cy="5638800"/>
          </a:xfrm>
          <a:prstGeom xmlns:a="http://schemas.openxmlformats.org/drawingml/2006/main" prst="roundRect">
            <a:avLst>
              <a:gd name="adj" fmla="val 63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B3527E-9B0D-4DDF-A3F0-0F344241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89535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828C"/>
                </a:solidFill>
              </a:defRPr>
            </a:pPr>
            <a:r>
              <a:rPr sz="1350" b="1">
                <a:solidFill>
                  <a:srgbClr val="13828C"/>
                </a:solidFill>
              </a:rPr>
              <a:t>USE OF FUNDS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749E3-7211-4644-90C7-E3E6B831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409700"/>
            <a:ext cx="70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828C"/>
                </a:solidFill>
              </a:defRPr>
            </a:pPr>
            <a:r>
              <a:rPr sz="1800" b="1">
                <a:solidFill>
                  <a:srgbClr val="13828C"/>
                </a:solidFill>
              </a:rPr>
              <a:t>60%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BF2FAA-D427-4069-A603-5FF569CF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09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617"/>
                </a:solidFill>
              </a:defRPr>
            </a:pPr>
            <a:r>
              <a:rPr sz="1125" b="1">
                <a:solidFill>
                  <a:srgbClr val="101617"/>
                </a:solidFill>
              </a:rPr>
              <a:t>PRODUCT + INFRA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632CF0-5A1E-488A-990E-6F70D4C9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0497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6C"/>
                </a:solidFill>
              </a:defRPr>
            </a:pPr>
            <a:r>
              <a:rPr sz="1125" b="0">
                <a:solidFill>
                  <a:srgbClr val="5D696C"/>
                </a:solidFill>
              </a:rPr>
              <a:t>Development, reliability and infrastructure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0DCCBD-150F-4D72-B1AB-62A6D194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52650"/>
            <a:ext cx="34861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E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6ABA7A-E0FA-4CFB-A93A-7F1E6A21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52650"/>
            <a:ext cx="34861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2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5B85E1-2F1C-4338-A86A-FAEB7753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62200"/>
            <a:ext cx="70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</a:defRPr>
            </a:pPr>
            <a:r>
              <a:rPr sz="1800" b="1">
                <a:solidFill>
                  <a:srgbClr val="1D4ED8"/>
                </a:solidFill>
              </a:rPr>
              <a:t>25%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AE6C9F-57D1-4374-96D5-357EEDCB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622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617"/>
                </a:solidFill>
              </a:defRPr>
            </a:pPr>
            <a:r>
              <a:rPr sz="1125" b="1">
                <a:solidFill>
                  <a:srgbClr val="101617"/>
                </a:solidFill>
              </a:rPr>
              <a:t>USER GROWTH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ED85D6-BF28-4A9C-AE17-E01617F3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5747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6C"/>
                </a:solidFill>
              </a:defRPr>
            </a:pPr>
            <a:r>
              <a:rPr sz="1125" b="0">
                <a:solidFill>
                  <a:srgbClr val="5D696C"/>
                </a:solidFill>
              </a:rPr>
              <a:t>Waitlist conversion and community acquisition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DC4DCB-A6B5-4F4F-B7BF-BD7027BD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05150"/>
            <a:ext cx="34861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E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9C0983-4958-482F-8ED1-0DC46A3D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05150"/>
            <a:ext cx="1452563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95A52F-4B02-4FDB-AA4E-11EA2D29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14700"/>
            <a:ext cx="70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38A58"/>
                </a:solidFill>
              </a:defRPr>
            </a:pPr>
            <a:r>
              <a:rPr sz="1800" b="1">
                <a:solidFill>
                  <a:srgbClr val="238A58"/>
                </a:solidFill>
              </a:rPr>
              <a:t>10%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4B8A50-76D2-473A-8B34-DF56D7FE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14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617"/>
                </a:solidFill>
              </a:defRPr>
            </a:pPr>
            <a:r>
              <a:rPr sz="1125" b="1">
                <a:solidFill>
                  <a:srgbClr val="101617"/>
                </a:solidFill>
              </a:rPr>
              <a:t>OPERATIONS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2F2324-1AD6-4C59-A359-2B519307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0997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6C"/>
                </a:solidFill>
              </a:defRPr>
            </a:pPr>
            <a:r>
              <a:rPr sz="1125" b="0">
                <a:solidFill>
                  <a:srgbClr val="5D696C"/>
                </a:solidFill>
              </a:rPr>
              <a:t>Legal, compliance, finance and support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62D156-1624-4F43-8293-E35FDDB4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57650"/>
            <a:ext cx="34861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E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A97E8B-FCC3-4383-8460-9632125E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57650"/>
            <a:ext cx="581025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8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0DEE82-0AB3-4DAE-AC6F-FDD743DE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267200"/>
            <a:ext cx="70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16207"/>
                </a:solidFill>
              </a:defRPr>
            </a:pPr>
            <a:r>
              <a:rPr sz="1800" b="1">
                <a:solidFill>
                  <a:srgbClr val="A16207"/>
                </a:solidFill>
              </a:rPr>
              <a:t>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610DB4-0333-4952-9C0D-AEA73838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617"/>
                </a:solidFill>
              </a:defRPr>
            </a:pPr>
            <a:r>
              <a:rPr sz="1125" b="1">
                <a:solidFill>
                  <a:srgbClr val="101617"/>
                </a:solidFill>
              </a:rPr>
              <a:t>CREATOR ECOSYSTEM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CD082E-814B-4217-9B41-16D4285F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6247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6C"/>
                </a:solidFill>
              </a:defRPr>
            </a:pPr>
            <a:r>
              <a:rPr sz="1125" b="0">
                <a:solidFill>
                  <a:srgbClr val="5D696C"/>
                </a:solidFill>
              </a:rPr>
              <a:t>Creator pilots, tools and partnerships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332EFB-D954-41EE-8167-017E1832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010150"/>
            <a:ext cx="34861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E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50ED92-31D6-4AF8-B0BB-55967CEF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010150"/>
            <a:ext cx="290513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162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364511-E21C-4CAB-A905-994B9AA3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314950"/>
            <a:ext cx="348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9530DE-B9C9-4E18-A87D-0652BB62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5054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828C"/>
                </a:solidFill>
              </a:defRPr>
            </a:pPr>
            <a:r>
              <a:rPr sz="1200" b="1">
                <a:solidFill>
                  <a:srgbClr val="13828C"/>
                </a:solidFill>
              </a:rPr>
              <a:t>100% allocated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918335-35A2-4C12-888A-D50508FD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457825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96C"/>
                </a:solidFill>
              </a:defRPr>
            </a:pPr>
            <a:r>
              <a:rPr sz="1050" b="1">
                <a:solidFill>
                  <a:srgbClr val="5D696C"/>
                </a:solidFill>
              </a:rPr>
              <a:t>Raise amount</a:t>
            </a:r>
          </a:p>
          <a:p xmlns:a="http://schemas.openxmlformats.org/drawingml/2006/main">
            <a:pPr algn="r">
              <a:defRPr sz="1050" b="1">
                <a:solidFill>
                  <a:srgbClr val="5D696C"/>
                </a:solidFill>
              </a:defRPr>
            </a:pPr>
            <a:r>
              <a:rPr sz="1050" b="1">
                <a:solidFill>
                  <a:srgbClr val="5D696C"/>
                </a:solidFill>
              </a:rPr>
              <a:t>to be finalised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69DB24-E52D-495D-97A1-0A485144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EFF0"/>
                </a:solidFill>
              </a:defRPr>
            </a:pPr>
            <a:r>
              <a:rPr sz="1425" b="1">
                <a:solidFill>
                  <a:srgbClr val="D9EFF0"/>
                </a:solidFill>
              </a:rPr>
              <a:t>Sampath Kumar  •  Founder &amp; CEO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85B714-1E6C-4260-9200-4B6F383A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VOIID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E2E48A-0D58-4549-BFA8-790AC53C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96C"/>
                </a:solidFill>
              </a:defRPr>
            </a:pPr>
            <a:r>
              <a:rPr sz="975" b="1">
                <a:solidFill>
                  <a:srgbClr val="5D696C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8150015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2026-08-31T06:45:17.5990000Z</dcterms:created>
  <dcterms:modified xsi:type="dcterms:W3CDTF">2026-08-31T06:45:17.5990000Z</dcterms:modified>
</coreProperties>
</file>