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86bdf812944cb" /><Relationship Type="http://schemas.openxmlformats.org/officeDocument/2006/relationships/extended-properties" Target="/docProps/app.xml" Id="R06508971393e401c" /><Relationship Type="http://schemas.openxmlformats.org/officeDocument/2006/relationships/officeDocument" Target="/ppt/presentation.xml" Id="R6fdf72e78696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26b9f9aa745a9"/>
  </p:sldMasterIdLst>
  <p:notesMasterIdLst>
    <p:notesMasterId xmlns:r="http://schemas.openxmlformats.org/officeDocument/2006/relationships" r:id="R249d15fe87e34d1e"/>
  </p:notesMasterIdLst>
  <p:sldIdLst>
    <p:sldId xmlns:r="http://schemas.openxmlformats.org/officeDocument/2006/relationships" id="256" r:id="R59ef2de141a9491e"/>
    <p:sldId xmlns:r="http://schemas.openxmlformats.org/officeDocument/2006/relationships" id="257" r:id="Rdd7b485164b9408c"/>
    <p:sldId xmlns:r="http://schemas.openxmlformats.org/officeDocument/2006/relationships" id="258" r:id="R4b18dd90ea704376"/>
    <p:sldId xmlns:r="http://schemas.openxmlformats.org/officeDocument/2006/relationships" id="259" r:id="R70bc40f1718a4c23"/>
    <p:sldId xmlns:r="http://schemas.openxmlformats.org/officeDocument/2006/relationships" id="260" r:id="Rf7d70cd8070a4534"/>
    <p:sldId xmlns:r="http://schemas.openxmlformats.org/officeDocument/2006/relationships" id="261" r:id="Re1e08d374e034061"/>
    <p:sldId xmlns:r="http://schemas.openxmlformats.org/officeDocument/2006/relationships" id="262" r:id="Rfd75ca9e5fb84a76"/>
    <p:sldId xmlns:r="http://schemas.openxmlformats.org/officeDocument/2006/relationships" id="263" r:id="R96b48987a6464110"/>
    <p:sldId xmlns:r="http://schemas.openxmlformats.org/officeDocument/2006/relationships" id="264" r:id="R5e0e5c6e965d4128"/>
    <p:sldId xmlns:r="http://schemas.openxmlformats.org/officeDocument/2006/relationships" id="265" r:id="Rde051066f2a847cf"/>
    <p:sldId xmlns:r="http://schemas.openxmlformats.org/officeDocument/2006/relationships" id="266" r:id="Raec4075d8f0a42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9afc163ab432e" /><Relationship Type="http://schemas.openxmlformats.org/officeDocument/2006/relationships/slideMaster" Target="/ppt/slideMasters/slideMaster1.xml" Id="R79426b9f9aa745a9" /><Relationship Type="http://schemas.openxmlformats.org/officeDocument/2006/relationships/notesMaster" Target="/ppt/notesMasters/notesMaster1.xml" Id="R249d15fe87e34d1e" /><Relationship Type="http://schemas.openxmlformats.org/officeDocument/2006/relationships/presProps" Target="/ppt/presProps.xml" Id="R0916fc92fa314b53" /><Relationship Type="http://schemas.openxmlformats.org/officeDocument/2006/relationships/tableStyles" Target="/ppt/tableStyles.xml" Id="R4d51c5d3b462433c" /><Relationship Type="http://schemas.openxmlformats.org/officeDocument/2006/relationships/slide" Target="/ppt/slides/slide1.xml" Id="R59ef2de141a9491e" /><Relationship Type="http://schemas.openxmlformats.org/officeDocument/2006/relationships/slide" Target="/ppt/slides/slide2.xml" Id="Rdd7b485164b9408c" /><Relationship Type="http://schemas.openxmlformats.org/officeDocument/2006/relationships/slide" Target="/ppt/slides/slide3.xml" Id="R4b18dd90ea704376" /><Relationship Type="http://schemas.openxmlformats.org/officeDocument/2006/relationships/slide" Target="/ppt/slides/slide4.xml" Id="R70bc40f1718a4c23" /><Relationship Type="http://schemas.openxmlformats.org/officeDocument/2006/relationships/slide" Target="/ppt/slides/slide5.xml" Id="Rf7d70cd8070a4534" /><Relationship Type="http://schemas.openxmlformats.org/officeDocument/2006/relationships/slide" Target="/ppt/slides/slide6.xml" Id="Re1e08d374e034061" /><Relationship Type="http://schemas.openxmlformats.org/officeDocument/2006/relationships/slide" Target="/ppt/slides/slide7.xml" Id="Rfd75ca9e5fb84a76" /><Relationship Type="http://schemas.openxmlformats.org/officeDocument/2006/relationships/slide" Target="/ppt/slides/slide8.xml" Id="R96b48987a6464110" /><Relationship Type="http://schemas.openxmlformats.org/officeDocument/2006/relationships/slide" Target="/ppt/slides/slide9.xml" Id="R5e0e5c6e965d4128" /><Relationship Type="http://schemas.openxmlformats.org/officeDocument/2006/relationships/slide" Target="/ppt/slides/slide10.xml" Id="Rde051066f2a847cf" /><Relationship Type="http://schemas.openxmlformats.org/officeDocument/2006/relationships/slide" Target="/ppt/slides/slide11.xml" Id="Raec4075d8f0a42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88cb2ab04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7c81f3bd1547b6" /><Relationship Type="http://schemas.openxmlformats.org/officeDocument/2006/relationships/notesMaster" Target="/ppt/notesMasters/notesMaster1.xml" Id="Rbcd105c0042a4f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e1db1abae04c90" /><Relationship Type="http://schemas.openxmlformats.org/officeDocument/2006/relationships/notesMaster" Target="/ppt/notesMasters/notesMaster1.xml" Id="R81fafca7d4cc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30bcdcd11457e" /><Relationship Type="http://schemas.openxmlformats.org/officeDocument/2006/relationships/notesMaster" Target="/ppt/notesMasters/notesMaster1.xml" Id="Re310cdf8b370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b3919cf0c44a9f" /><Relationship Type="http://schemas.openxmlformats.org/officeDocument/2006/relationships/notesMaster" Target="/ppt/notesMasters/notesMaster1.xml" Id="R1e167a6205ac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fc8fe67a874451" /><Relationship Type="http://schemas.openxmlformats.org/officeDocument/2006/relationships/notesMaster" Target="/ppt/notesMasters/notesMaster1.xml" Id="Rc01ca79ac729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9302694d5d467b" /><Relationship Type="http://schemas.openxmlformats.org/officeDocument/2006/relationships/notesMaster" Target="/ppt/notesMasters/notesMaster1.xml" Id="R90e144bdcb5a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477cd095fb46dc" /><Relationship Type="http://schemas.openxmlformats.org/officeDocument/2006/relationships/notesMaster" Target="/ppt/notesMasters/notesMaster1.xml" Id="R152ef797af064d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6129bc69646f9" /><Relationship Type="http://schemas.openxmlformats.org/officeDocument/2006/relationships/notesMaster" Target="/ppt/notesMasters/notesMaster1.xml" Id="R784fdcc8b4d341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5ac688b4834240" /><Relationship Type="http://schemas.openxmlformats.org/officeDocument/2006/relationships/notesMaster" Target="/ppt/notesMasters/notesMaster1.xml" Id="R7e77ac67abe243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44906349ef4b50" /><Relationship Type="http://schemas.openxmlformats.org/officeDocument/2006/relationships/notesMaster" Target="/ppt/notesMasters/notesMaster1.xml" Id="R0e6c4c979b73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8e7e2137384fda" /><Relationship Type="http://schemas.openxmlformats.org/officeDocument/2006/relationships/notesMaster" Target="/ppt/notesMasters/notesMaster1.xml" Id="Rc77ce15f8c2347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positioning and brand assets: Voiid repository README.md and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framing: founder-provided positioning and product scope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Feature scope: docs/LANDING_PAGE_BRIEF.md and product assets in apps/ios/Voiid/Voiid/Assets.xcassets.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claims: README.md Golden rules; privacy boundaries: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sequence: repository feature set and docs/COMMUNITY_COMMERCE_PLAN.md.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market-size claim used. Geographic positioning: founder line in docs/LANDING_PAGE_BRIEF.md.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Business-model roadmap: docs/COMMUNITY_COMMERCE_PLAN.md. Paid payment provider is not yet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Stage and traction provided directly by founder: pre-seed, pilot testing, waitlist starting soon.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synthesis based on current pilot stage and repository plans; timing is a planning assumption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Founder name and role supplied directly by the user. No unverified biography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Round stage provided by founder. Raise amount intentionally left to be finalised.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802f77f99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10fab3d174a66" /><Relationship Type="http://schemas.openxmlformats.org/officeDocument/2006/relationships/slideLayout" Target="/ppt/slideLayouts/slideLayout1.xml" Id="Rdf4ac0432b0f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ac0432b0f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9bdc697c94306" /><Relationship Type="http://schemas.openxmlformats.org/officeDocument/2006/relationships/notesSlide" Target="/ppt/notesSlides/notesSlide1.xml" Id="R145778f6e13a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dae7b4674622" /><Relationship Type="http://schemas.openxmlformats.org/officeDocument/2006/relationships/notesSlide" Target="/ppt/notesSlides/notesSlide2.xml" Id="Rc8e4649c318d4e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95ce874d407c" /><Relationship Type="http://schemas.openxmlformats.org/officeDocument/2006/relationships/notesSlide" Target="/ppt/notesSlides/notesSlide3.xml" Id="Rd04381b2034440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98d5d8e4249d6" /><Relationship Type="http://schemas.openxmlformats.org/officeDocument/2006/relationships/notesSlide" Target="/ppt/notesSlides/notesSlide4.xml" Id="R86057b11fb3949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685c0f8a24103" /><Relationship Type="http://schemas.openxmlformats.org/officeDocument/2006/relationships/notesSlide" Target="/ppt/notesSlides/notesSlide5.xml" Id="R5bfd1bf4b99140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a1b9b3a94a10" /><Relationship Type="http://schemas.openxmlformats.org/officeDocument/2006/relationships/notesSlide" Target="/ppt/notesSlides/notesSlide6.xml" Id="R779e635f37164d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dbe4f7b3d4e5d" /><Relationship Type="http://schemas.openxmlformats.org/officeDocument/2006/relationships/notesSlide" Target="/ppt/notesSlides/notesSlide7.xml" Id="R012556bed17749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81d8689f74ff0" /><Relationship Type="http://schemas.openxmlformats.org/officeDocument/2006/relationships/notesSlide" Target="/ppt/notesSlides/notesSlide8.xml" Id="Rb42bb8b37ec8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e0124bb1486b" /><Relationship Type="http://schemas.openxmlformats.org/officeDocument/2006/relationships/notesSlide" Target="/ppt/notesSlides/notesSlide9.xml" Id="Raaf108e2f9e945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32096768c456c" /><Relationship Type="http://schemas.openxmlformats.org/officeDocument/2006/relationships/notesSlide" Target="/ppt/notesSlides/notesSlide10.xml" Id="R88e8e1abb5b741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a72c060f41d1" /><Relationship Type="http://schemas.openxmlformats.org/officeDocument/2006/relationships/notesSlide" Target="/ppt/notesSlides/notesSlide11.xml" Id="R994e27f019ca45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E1A1E-E48E-4FAB-AAD5-BAE9694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8FB49-EF38-4912-BF9E-C8FC585D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571750" cy="2571750"/>
          </a:xfrm>
          <a:prstGeom xmlns:a="http://schemas.openxmlformats.org/drawingml/2006/main" prst="roundRect">
            <a:avLst>
              <a:gd name="adj" fmla="val 2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B1314-7AB2-461A-A458-7CB6049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57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13828C"/>
                </a:solidFill>
              </a:defRPr>
            </a:pPr>
            <a:r>
              <a:rPr sz="8400" b="1">
                <a:solidFill>
                  <a:srgbClr val="13828C"/>
                </a:solidFill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A01C-B55E-4BB5-A4C3-29215EBB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VOIID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7106F-9494-4C1F-A5BD-0EF5D66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617"/>
                </a:solidFill>
              </a:defRPr>
            </a:pPr>
            <a:r>
              <a:rPr sz="4200" b="1">
                <a:solidFill>
                  <a:srgbClr val="101617"/>
                </a:solidFill>
              </a:rPr>
              <a:t>Private connection,</a:t>
            </a:r>
          </a:p>
          <a:p xmlns:a="http://schemas.openxmlformats.org/drawingml/2006/main">
            <a:pPr algn="l">
              <a:defRPr sz="4200" b="1">
                <a:solidFill>
                  <a:srgbClr val="101617"/>
                </a:solidFill>
              </a:defRPr>
            </a:pPr>
            <a:r>
              <a:rPr sz="4200" b="1">
                <a:solidFill>
                  <a:srgbClr val="101617"/>
                </a:solidFill>
              </a:rPr>
              <a:t>without compromise.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87F05-D545-4F89-82EB-19ED22AB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A privacy-first communications super-app built in India for a global generation.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13307-4909-45EE-A05E-7092F83B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3144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CDA0E-B604-410F-BF8C-C88838BE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085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PRE-SEED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44FAC-019F-4968-928B-396F71B3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53000"/>
            <a:ext cx="1752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94004-5FC2-4942-8A87-38CE3E8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828C"/>
                </a:solidFill>
              </a:defRPr>
            </a:pPr>
            <a:r>
              <a:rPr sz="1200" b="1">
                <a:solidFill>
                  <a:srgbClr val="13828C"/>
                </a:solidFill>
              </a:rPr>
              <a:t>PILOT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502FB-5808-4A32-B189-A620B2D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7"/>
                </a:solidFill>
              </a:defRPr>
            </a:pPr>
            <a:r>
              <a:rPr sz="1350" b="1">
                <a:solidFill>
                  <a:srgbClr val="101617"/>
                </a:solidFill>
              </a:rPr>
              <a:t>Sampath Kumar  •  Founder &amp; CEO</a:t>
            </a:r>
          </a:p>
        </p:txBody>
      </p:sp>
    </p:spTree>
    <p:extLst>
      <p:ext uri="{BB962C8B-B14F-4D97-AF65-F5344CB8AC3E}">
        <p14:creationId xmlns:p14="http://schemas.microsoft.com/office/powerpoint/2010/main" val="1195943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1D054-467A-44D9-9BDB-D172442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EAED5-033E-43B2-A4FE-F28DA7D6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Digital life is fragmented—and trust is the casualty.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1EA0-8D21-400D-A367-8CB1C649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D8810-203F-4C97-96BF-BFB9F6C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People switch between apps to message, call, share moments, meet communities and play. Each handoff adds friction; each platform asks for more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34E4A-933A-48D8-9781-2B9B0C7A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6C44E-932B-4DF4-9A76-79E034D5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FRAGMENTATION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1B0F-90AC-4FB1-8F68-C3A6CC74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Too many apps for one social 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9AEFD-DD2F-4D21-906C-2DC8030F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8695-D07B-4CF0-AA61-9296C7F2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SURVEILLANCE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B9D3-D5B5-4094-9D42-018E566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Convenience often trades against privacy.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346AF-379F-4D35-8136-91C83BFC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07D09-4107-468A-9586-829CFA3E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WEAK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EF5B6-A883-4801-A632-8E9BE3AD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72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617"/>
                </a:solidFill>
              </a:defRPr>
            </a:pPr>
            <a:r>
              <a:rPr sz="1650" b="0">
                <a:solidFill>
                  <a:srgbClr val="101617"/>
                </a:solidFill>
              </a:rPr>
              <a:t>Chats, communities and shared experiences live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91B0D-6895-4320-AC4E-4C8E8E43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2236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9195B-0B5F-450A-81A6-4DE3FF1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87B8F-44CB-4705-9D66-45CF0D4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Voiid brings the social stack into one private home.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C6B7F-6C98-42FB-AA22-3D9836F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D543-85F2-48C5-BA60-433478C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96C"/>
                </a:solidFill>
              </a:defRPr>
            </a:pPr>
            <a:r>
              <a:rPr sz="2025" b="0">
                <a:solidFill>
                  <a:srgbClr val="5D696C"/>
                </a:solidFill>
              </a:rPr>
              <a:t>One identity. One trusted graph. Multiple ways to connect.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FDB45-869B-443C-993A-3997581B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07E1A-9C8A-4369-95B3-41530CF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9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744BF-FC7D-4ECF-A738-39A5B4C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828C"/>
                </a:solidFill>
              </a:defRPr>
            </a:pPr>
            <a:r>
              <a:rPr sz="2550" b="1">
                <a:solidFill>
                  <a:srgbClr val="13828C"/>
                </a:solidFill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00A70-0699-4858-BD42-AD064F74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MESSAGING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EBEBA-269C-4186-84E1-EEBAC44B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Encrypted chats &amp;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ABC42-C4E4-4F28-B2CA-3DC0C45B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07F9E-CDA2-4A40-81B7-6C22504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1E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E2505-3E59-45F2-A468-B7739F2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E22CE"/>
                </a:solidFill>
              </a:defRPr>
            </a:pPr>
            <a:r>
              <a:rPr sz="2550" b="1">
                <a:solidFill>
                  <a:srgbClr val="7E22CE"/>
                </a:solidFill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7B498-CBA3-4DD7-97BB-7D31F485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MOMENTS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15E5-C71A-466E-97C5-B66D4BFE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Share with the people who matter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6E2A4-48D5-43DD-8A65-7A2660AC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328C8-43CA-4001-B400-9E544355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D550E-822F-4CD7-A01A-61EBDE7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39CDB-2A98-4286-8781-815EB873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CLIPS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7B345-01FC-49F1-90EE-4FE906E4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Discover creators and culture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2B14E-54C8-4C73-AB89-8050FC3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0350"/>
            <a:ext cx="2400300" cy="2857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2E6B5-4721-426B-A233-88F6D03F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952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D4A16-66C4-4271-AF55-D6F3CA60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617"/>
                </a:solidFill>
              </a:defRPr>
            </a:pPr>
            <a:r>
              <a:rPr sz="2550" b="1">
                <a:solidFill>
                  <a:srgbClr val="101617"/>
                </a:solidFill>
              </a:rPr>
              <a:t>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272D8-A64F-463F-9FC5-2FBAA1B5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3387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828C"/>
                </a:solidFill>
              </a:defRPr>
            </a:pPr>
            <a:r>
              <a:rPr sz="1425" b="1">
                <a:solidFill>
                  <a:srgbClr val="13828C"/>
                </a:solidFill>
              </a:rPr>
              <a:t>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2380F-D681-47B3-8207-7346BE1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Play inside the conversation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E22B2-C584-4260-927A-16DAD9C5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2690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97539-BD9E-4083-9557-7A5836A3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58289-D47F-46D9-AAD5-E42BF72E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Privacy is the architecture—not a setting.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1D29-2EC6-49B4-B78D-EB1A3FA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8B298-566D-447A-B4FF-2A10B22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667250" cy="3676650"/>
          </a:xfrm>
          <a:prstGeom xmlns:a="http://schemas.openxmlformats.org/drawingml/2006/main" prst="roundRect">
            <a:avLst>
              <a:gd name="adj" fmla="val 7254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4D418-91E1-45CC-8567-A32F4158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SERVER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NEVER SEES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PLAINTEXT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09067-621E-49F3-85A7-A22FDDAA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FF0"/>
                </a:solidFill>
              </a:defRPr>
            </a:pPr>
            <a:r>
              <a:rPr sz="1500" b="0">
                <a:solidFill>
                  <a:srgbClr val="D9EFF0"/>
                </a:solidFill>
              </a:rPr>
              <a:t>Private keys stay on-device. Critical dependencies remain swappable.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36F9F-1DD4-4358-9F60-612EEED1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End-to-end encrypted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E7A0D-D6D4-4F13-8E1D-D136DFE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146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Messages and sensitive connection data are designed around ciphertext-only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2C009-3B93-45B4-A368-1480824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Honest privacy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57CF-B360-47F7-AB0C-C76C8150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Public clips, creator profiles and games are identified as public—not hidden behind vague claims.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3D971-8230-4B5C-A985-247C303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7"/>
                </a:solidFill>
              </a:defRPr>
            </a:pPr>
            <a:r>
              <a:rPr sz="1800" b="1">
                <a:solidFill>
                  <a:srgbClr val="101617"/>
                </a:solidFill>
              </a:rPr>
              <a:t>Built for resilience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ACAE4-353E-466A-BDA7-D071403B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6C"/>
                </a:solidFill>
              </a:defRPr>
            </a:pPr>
            <a:r>
              <a:rPr sz="1350" b="0">
                <a:solidFill>
                  <a:srgbClr val="5D696C"/>
                </a:solidFill>
              </a:rPr>
              <a:t>Plain Postgres and replaceable interfaces reduce platform lock-in.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524BF-5D66-4C0E-A0FF-35FC5F1B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3208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90C3B-B49E-4A80-9A20-4B43B9B8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F02D1-62A4-47CC-80F5-A7758B36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Trusted communication unlocks shared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12D8-6ED1-42C1-B938-37BE3419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48E45-3CA7-48B2-BB6D-2D33310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78870-9A9F-45C5-A298-3C1F2BEF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28C"/>
                </a:solidFill>
              </a:defRPr>
            </a:pPr>
            <a:r>
              <a:rPr sz="1800" b="1">
                <a:solidFill>
                  <a:srgbClr val="13828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7DD9D-3985-4B3B-A922-90CC615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A62BB-2325-4D43-B0F2-F9B1E39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Encrypted messaging &amp;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DB21E-3781-461F-ACF6-0BB516E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23818-0AA8-4476-9AEA-F783334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689B1-112A-4412-9F28-BBBCBB4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E22CE"/>
                </a:solidFill>
              </a:defRPr>
            </a:pPr>
            <a:r>
              <a:rPr sz="1800" b="1">
                <a:solidFill>
                  <a:srgbClr val="7E22C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009E2-A341-4ED6-A67D-C1E0BA1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ENGAGE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63BA6-71F6-461C-A724-45914EA0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Moments, clips &amp; games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CE8E1-C25E-4D8F-95F3-7D683EF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7DF73-A344-45A4-AE95-95D82CF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D89D0-B915-4670-BBA0-056D8921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F66EA-FEFB-43CE-8DF6-1C409BF0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BELONG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9B3F5-B01B-4DD1-9B3F-4CDEAA2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Communities &amp;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D8651-4653-49CC-87D7-0D2C3983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D8B08-B235-4F56-B463-63FCEF97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2400300" cy="310515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C492F-371A-4FF1-B5B5-3672EB1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79DB5-D08D-4D42-8A16-EA0C5C7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MONETISE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645DD-F6D7-4795-AE60-6F20F056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96C"/>
                </a:solidFill>
              </a:defRPr>
            </a:pPr>
            <a:r>
              <a:rPr sz="1500" b="0">
                <a:solidFill>
                  <a:srgbClr val="5D696C"/>
                </a:solidFill>
              </a:rPr>
              <a:t>Tickets and creator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87938-E3A7-49B9-8907-6914824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981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162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EAD65-C5E0-4950-A8A8-55E382F7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The same trusted identity compounds across every surface.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10DEB-1C16-4FBD-81BF-72F5942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2687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420AA-00C8-4559-A501-380DC4A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C9D50-AA41-45DC-A58D-0FF86B93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India is the launchpad; the need is global.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5BAC9-B945-4CE2-AFEB-932C8C9C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94D61-0AFE-4744-B1A6-A5C84D52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28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Voiid targets a universal tension: people want richer digital connection without surrendering control of their private lives.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C6DE3-26FB-4A85-BCF6-05A545D1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FA4C5-3385-4CE5-A103-383B74D7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MOBILE-FIRST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D08B0-4B93-4B7E-A136-5B990DA7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Designed around the phone as the primary social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FED7-DCAB-4A00-9D7F-FCAF7A7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BEF2F-787A-4DAF-87D2-AA2F889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EFF0"/>
                </a:solidFill>
              </a:defRPr>
            </a:pPr>
            <a:r>
              <a:rPr sz="1350" b="1">
                <a:solidFill>
                  <a:srgbClr val="D9EFF0"/>
                </a:solidFill>
              </a:rPr>
              <a:t>INDIA-BUILT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DA06A-98AE-4B49-B901-4B48001D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product intuition with global product ambition.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7B791-AEAA-484E-BE8E-5DE30A5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2956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9AECD-C0CB-4EFF-8000-55E46C40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GENERATIONAL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67509-C76B-490D-B99F-4CA0283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617"/>
                </a:solidFill>
              </a:defRPr>
            </a:pPr>
            <a:r>
              <a:rPr sz="1650" b="1">
                <a:solidFill>
                  <a:srgbClr val="101617"/>
                </a:solidFill>
              </a:rPr>
              <a:t>Privacy expectations are rising as social behaviour keeps expanding.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07F2C-0500-4C8E-88BC-252E15C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54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07E99-0A25-45BA-AEEA-51AAF47F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1B401-37E3-46BC-8513-848ECD32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Monetisation grows with community activity.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D1D7-C813-41C2-846C-1AECCC4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77254-7E6A-4227-87CF-F5DE431D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96C"/>
                </a:solidFill>
              </a:defRPr>
            </a:pPr>
            <a:r>
              <a:rPr sz="1875" b="0">
                <a:solidFill>
                  <a:srgbClr val="5D696C"/>
                </a:solidFill>
              </a:rPr>
              <a:t>Voiid can earn when hosts and creators earn—without putting core private communication behind a paywall.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99839-328F-4F45-8D4E-A8396467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99EA0-7CB5-4F40-92EE-C84B8AC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PAID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695A3-1A97-41CE-938F-A76ADC77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Commission on tickets and passes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BB93B-6537-41E2-9E8E-57DEC44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16207"/>
                </a:solidFill>
              </a:defRPr>
            </a:pPr>
            <a:r>
              <a:rPr sz="1275" b="1">
                <a:solidFill>
                  <a:srgbClr val="A16207"/>
                </a:solidFill>
              </a:rPr>
              <a:t>Near-term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DBDE8-C56E-47AF-8AE1-6BF8CF5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94F62-4F48-45EE-9532-9D4105F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COMMUNITY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9E07F-12FC-48D2-8142-296E73CC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Transaction fee on products and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D99C0-39F9-4E2E-A097-6D88DE51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51398-ABDD-4DE4-847C-5304DE8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DF1F1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F0FA2-A86D-4AEA-8EE6-D0954C3D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CREATOR ECONOMY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89B43-B88F-4598-9A3C-28A101D3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33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Tips, subscriptions and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4A585-D28D-4ACD-BB5E-98144C7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625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Longer-term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C0E51-8015-4628-B4E8-796FE7A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3244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5654E-B022-4211-981A-AD4C35B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0A4BA-4A8F-4560-961F-CD807B98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The product is in pilot; the learning loop is active.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F6106-2268-43FB-B4E1-782A8CE5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25862-F93B-44FC-BF60-92487AD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9525">
            <a:solidFill>
              <a:srgbClr val="1382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1D0B1-F682-411F-9635-AABD3B46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FF0"/>
                </a:solidFill>
              </a:defRPr>
            </a:pPr>
            <a:r>
              <a:rPr sz="1200" b="1">
                <a:solidFill>
                  <a:srgbClr val="D9EFF0"/>
                </a:solidFill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CAEB6-FDED-4DD1-BACA-9F6CDD43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Pilot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CBC10-D0C7-479F-A735-079CDD87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FF0"/>
                </a:solidFill>
              </a:defRPr>
            </a:pPr>
            <a:r>
              <a:rPr sz="1425" b="0">
                <a:solidFill>
                  <a:srgbClr val="D9EFF0"/>
                </a:solidFill>
              </a:rPr>
              <a:t>Validate reliability, privacy flows and core engagement.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AF696-F813-466B-B86D-665461F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50216-B637-41EA-BA48-479EFC72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C4F7C-020F-4660-8A74-431FE16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617"/>
                </a:solidFill>
              </a:defRPr>
            </a:pPr>
            <a:r>
              <a:rPr sz="2025" b="1">
                <a:solidFill>
                  <a:srgbClr val="101617"/>
                </a:solidFill>
              </a:rPr>
              <a:t>Waitlist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65F83-526D-40CB-85AB-C44B8C4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6C"/>
                </a:solidFill>
              </a:defRPr>
            </a:pPr>
            <a:r>
              <a:rPr sz="1425" b="0">
                <a:solidFill>
                  <a:srgbClr val="5D696C"/>
                </a:solidFill>
              </a:rPr>
              <a:t>Build an owned audience and measure intent by cohort.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2097-7984-4F20-8245-754B13CD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2956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FBF17-1BC1-47EB-9D15-D442637E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THEN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E8899-95C3-420B-BC2E-FF9A6C8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617"/>
                </a:solidFill>
              </a:defRPr>
            </a:pPr>
            <a:r>
              <a:rPr sz="2025" b="1">
                <a:solidFill>
                  <a:srgbClr val="101617"/>
                </a:solidFill>
              </a:rPr>
              <a:t>Focused rollout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0C89B-6C7B-4B33-8B7E-7CCA8FC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6C"/>
                </a:solidFill>
              </a:defRPr>
            </a:pPr>
            <a:r>
              <a:rPr sz="1425" b="0">
                <a:solidFill>
                  <a:srgbClr val="5D696C"/>
                </a:solidFill>
              </a:rPr>
              <a:t>Convert early communities into repeat usage and referrals.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37708-C65A-4A5A-ACD9-7472354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Next investor update: waitlist conversion, activation, retention and referral.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AE9A1-401B-411C-835A-F3AEA65F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095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5C31A-42CC-4956-939D-5E17431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1E915-1FD0-427F-B518-E9CFEC3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An 18-month path to repeatable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D098B-3D79-472D-A80B-CE76A34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2BC37-D415-41BB-A189-EC88717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28C"/>
                </a:solidFill>
              </a:defRPr>
            </a:pPr>
            <a:r>
              <a:rPr sz="1350" b="1">
                <a:solidFill>
                  <a:srgbClr val="13828C"/>
                </a:solidFill>
              </a:rPr>
              <a:t>0–3 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4F91B-57F7-4983-A9DE-D6EDAEF6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46722-0405-422C-90DA-622F91F8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Complete pilot hardening • open waitlist • instrument activation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5260C-8377-4BF8-A3E8-01147B9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E22CE"/>
                </a:solidFill>
              </a:defRPr>
            </a:pPr>
            <a:r>
              <a:rPr sz="1350" b="1">
                <a:solidFill>
                  <a:srgbClr val="7E22CE"/>
                </a:solidFill>
              </a:rPr>
              <a:t>3–9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B7BD5-1863-4C9F-ABAA-A4668615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4E684-5278-4805-AD33-7252857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337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Launch focused cohorts • strengthen calls, clips and games • prove retention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8E410-F2D9-4F34-89C8-90F71CF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6207"/>
                </a:solidFill>
              </a:defRPr>
            </a:pPr>
            <a:r>
              <a:rPr sz="1350" b="1">
                <a:solidFill>
                  <a:srgbClr val="A16207"/>
                </a:solidFill>
              </a:rPr>
              <a:t>9–18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20616-39D8-4806-BC39-2E61B3F8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8458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A7F36-4C52-4B96-B3AC-44870370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784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617"/>
                </a:solidFill>
              </a:defRPr>
            </a:pPr>
            <a:r>
              <a:rPr sz="1575" b="0">
                <a:solidFill>
                  <a:srgbClr val="101617"/>
                </a:solidFill>
              </a:rPr>
              <a:t>Scale communities • activate paid events • prepare creator monetisation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3A05E-47F8-49F7-B774-EF9378E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C4FE8-329F-4CDE-A239-A978CE39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15025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NORTH STAR: WEEKLY TRUSTED CONNECTIONS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450F7-B278-486C-8597-C37C776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2050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CDE65-ABE7-479F-BB26-4A492FB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28C"/>
                </a:solidFill>
              </a:defRPr>
            </a:pPr>
            <a:r>
              <a:rPr sz="1050" b="1">
                <a:solidFill>
                  <a:srgbClr val="13828C"/>
                </a:solidFill>
              </a:rPr>
              <a:t>VOIID • PRE-SEED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B912B-5053-4A4F-96E0-C077AB9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617"/>
                </a:solidFill>
              </a:defRPr>
            </a:pPr>
            <a:r>
              <a:rPr sz="3000" b="1">
                <a:solidFill>
                  <a:srgbClr val="101617"/>
                </a:solidFill>
              </a:rPr>
              <a:t>Founder-led, product-first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09801-8B5E-4FEA-A667-BD3D141C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D2BCC-39EB-4B66-BC76-E63B3809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2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EB5D0-0655-4C56-9DC7-B9F5795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9A187-5905-4274-A7F8-CA6BCC6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617"/>
                </a:solidFill>
              </a:defRPr>
            </a:pPr>
            <a:r>
              <a:rPr sz="2550" b="1">
                <a:solidFill>
                  <a:srgbClr val="101617"/>
                </a:solidFill>
              </a:rPr>
              <a:t>Sampath Kumar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F3EA2-6066-42A9-A37A-DB42DD64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194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828C"/>
                </a:solidFill>
              </a:defRPr>
            </a:pPr>
            <a:r>
              <a:rPr sz="1725" b="1">
                <a:solidFill>
                  <a:srgbClr val="13828C"/>
                </a:solidFill>
              </a:rPr>
              <a:t>Founder &amp; CEO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9941-3B05-4D7A-B4BB-6B6EC0B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695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96C"/>
                </a:solidFill>
              </a:defRPr>
            </a:pPr>
            <a:r>
              <a:rPr sz="1800" b="0">
                <a:solidFill>
                  <a:srgbClr val="5D696C"/>
                </a:solidFill>
              </a:rPr>
              <a:t>Leading Voiid from product vision through pilot execution—with a clear ambition to build in India for the world.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87C05-79BD-4120-83D9-52FD0131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067DC-319A-4643-81BD-6945AB6D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16207"/>
                </a:solidFill>
              </a:defRPr>
            </a:pPr>
            <a:r>
              <a:rPr sz="1425" b="1">
                <a:solidFill>
                  <a:srgbClr val="A16207"/>
                </a:solidFill>
              </a:rPr>
              <a:t>Pre-seed priorities: product • growth •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143E3-66F0-4A9A-94AF-3B9E5C18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5431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828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609E3-57A8-4660-809C-3C464C4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F0"/>
                </a:solidFill>
              </a:defRPr>
            </a:pPr>
            <a:r>
              <a:rPr sz="1125" b="1">
                <a:solidFill>
                  <a:srgbClr val="D9EFF0"/>
                </a:solidFill>
              </a:rPr>
              <a:t>THE PRE-SEED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DDAD-4650-49EB-B1CB-25898EB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Help build the trusted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social layer for the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next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677D9-A51C-4BB5-9B08-A55516D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3695700" cy="4552950"/>
          </a:xfrm>
          <a:prstGeom xmlns:a="http://schemas.openxmlformats.org/drawingml/2006/main" prst="roundRect">
            <a:avLst>
              <a:gd name="adj" fmla="val 7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05F0-F646-4187-A2DF-1911D7A4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38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28C"/>
                </a:solidFill>
              </a:defRPr>
            </a:pPr>
            <a:r>
              <a:rPr sz="1275" b="1">
                <a:solidFill>
                  <a:srgbClr val="13828C"/>
                </a:solidFill>
              </a:rPr>
              <a:t>USE OF FUNDS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A575E-1EBE-4D02-9614-39FEF82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E2A58-AB63-4DC4-BFDC-6D9E42F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Pilot → reliable public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52C89-C9C7-465F-949E-1B8D915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83CCF-B9F7-4080-90BA-EA97F55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Waitlist → focused early cohorts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5CD53-5099-4089-A670-4BA4DD2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6207"/>
                </a:solidFill>
              </a:defRPr>
            </a:pPr>
            <a:r>
              <a:rPr sz="1200" b="1">
                <a:solidFill>
                  <a:srgbClr val="A16207"/>
                </a:solidFill>
              </a:rPr>
              <a:t>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506F0-8AF4-4B8C-92AC-5175B19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7"/>
                </a:solidFill>
              </a:defRPr>
            </a:pPr>
            <a:r>
              <a:rPr sz="1500" b="1">
                <a:solidFill>
                  <a:srgbClr val="101617"/>
                </a:solidFill>
              </a:rPr>
              <a:t>Core engineering and product hires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18DCB-63DB-410F-B14A-3AA252A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96C"/>
                </a:solidFill>
              </a:defRPr>
            </a:pPr>
            <a:r>
              <a:rPr sz="1275" b="1">
                <a:solidFill>
                  <a:srgbClr val="5D696C"/>
                </a:solidFill>
              </a:rPr>
              <a:t>Raise amount: to be finalised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57057-55B5-44BC-BEF2-0BB5C01C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EFF0"/>
                </a:solidFill>
              </a:defRPr>
            </a:pPr>
            <a:r>
              <a:rPr sz="1425" b="1">
                <a:solidFill>
                  <a:srgbClr val="D9EFF0"/>
                </a:solidFill>
              </a:rPr>
              <a:t>Sampath Kumar  •  Founder &amp; CEO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06F9A-91EE-4736-92AC-AF34CD00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VOIID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6CB6A-6F4B-48DC-BCDF-78C993F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96C"/>
                </a:solidFill>
              </a:defRPr>
            </a:pPr>
            <a:r>
              <a:rPr sz="975" b="1">
                <a:solidFill>
                  <a:srgbClr val="5D69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6913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2026-08-31T05:50:09.6190000Z</dcterms:created>
  <dcterms:modified xsi:type="dcterms:W3CDTF">2026-08-31T05:50:09.6190000Z</dcterms:modified>
</coreProperties>
</file>